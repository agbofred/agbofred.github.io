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872"/>
    <p:restoredTop sz="94610"/>
  </p:normalViewPr>
  <p:slideViewPr>
    <p:cSldViewPr snapToGrid="0" snapToObjects="1">
      <p:cViewPr varScale="1">
        <p:scale>
          <a:sx n="105" d="100"/>
          <a:sy n="105" d="100"/>
        </p:scale>
        <p:origin x="360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Weight %</c:v>
                </c:pt>
              </c:strCache>
            </c:strRef>
          </c:tx>
          <c:spPr>
            <a:solidFill>
              <a:srgbClr val="791716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2A2321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Proposal</c:v>
                </c:pt>
                <c:pt idx="1">
                  <c:v>Design Docs</c:v>
                </c:pt>
                <c:pt idx="2">
                  <c:v>Weekly Prog.</c:v>
                </c:pt>
                <c:pt idx="3">
                  <c:v>Mid-Sem.</c:v>
                </c:pt>
                <c:pt idx="4">
                  <c:v>Prototype</c:v>
                </c:pt>
                <c:pt idx="5">
                  <c:v>Final Pres.</c:v>
                </c:pt>
                <c:pt idx="6">
                  <c:v>Peer Rev.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15</c:v>
                </c:pt>
                <c:pt idx="1">
                  <c:v>15</c:v>
                </c:pt>
                <c:pt idx="2">
                  <c:v>20</c:v>
                </c:pt>
                <c:pt idx="3">
                  <c:v>10</c:v>
                </c:pt>
                <c:pt idx="4">
                  <c:v>25</c:v>
                </c:pt>
                <c:pt idx="5">
                  <c:v>10</c:v>
                </c:pt>
                <c:pt idx="6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766-2341-B738-938B00578135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35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2A232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Weight %</c:v>
                </c:pt>
              </c:strCache>
            </c:strRef>
          </c:tx>
          <c:spPr>
            <a:solidFill>
              <a:srgbClr val="C0AC7E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2A2321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Features</c:v>
                </c:pt>
                <c:pt idx="1">
                  <c:v>Testing</c:v>
                </c:pt>
                <c:pt idx="2">
                  <c:v>Deploy</c:v>
                </c:pt>
                <c:pt idx="3">
                  <c:v>Docs</c:v>
                </c:pt>
                <c:pt idx="4">
                  <c:v>Weekly Prog.</c:v>
                </c:pt>
                <c:pt idx="5">
                  <c:v>Final Pres.</c:v>
                </c:pt>
                <c:pt idx="6">
                  <c:v>Peer Rev.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25</c:v>
                </c:pt>
                <c:pt idx="1">
                  <c:v>15</c:v>
                </c:pt>
                <c:pt idx="2">
                  <c:v>15</c:v>
                </c:pt>
                <c:pt idx="3">
                  <c:v>15</c:v>
                </c:pt>
                <c:pt idx="4">
                  <c:v>15</c:v>
                </c:pt>
                <c:pt idx="5">
                  <c:v>10</c:v>
                </c:pt>
                <c:pt idx="6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7B8-114D-AE68-0711A2C92833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35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2A232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247918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11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7.png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1.png"/><Relationship Id="rId4" Type="http://schemas.openxmlformats.org/officeDocument/2006/relationships/image" Target="../media/image21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23.png"/><Relationship Id="rId4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7917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3931920"/>
            <a:ext cx="5943600" cy="5943600"/>
          </a:xfrm>
          <a:prstGeom prst="ellipse">
            <a:avLst/>
          </a:prstGeom>
          <a:solidFill>
            <a:srgbClr val="540F0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-2011680" y="-2194560"/>
            <a:ext cx="4114800" cy="4114800"/>
          </a:xfrm>
          <a:prstGeom prst="ellipse">
            <a:avLst/>
          </a:prstGeom>
          <a:ln w="28575">
            <a:solidFill>
              <a:srgbClr val="C0AC7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-1371600" y="-1554480"/>
            <a:ext cx="2834640" cy="2834640"/>
          </a:xfrm>
          <a:prstGeom prst="ellipse">
            <a:avLst/>
          </a:prstGeom>
          <a:ln w="15875">
            <a:solidFill>
              <a:srgbClr val="C0AC7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22960" y="141732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C0A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KICKOFF SESSION · FALL 2026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77240" y="1874520"/>
            <a:ext cx="877824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5600"/>
              </a:lnSpc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Senior Capstone</a:t>
            </a:r>
            <a:endParaRPr lang="en-US" sz="5400" dirty="0"/>
          </a:p>
          <a:p>
            <a:pPr marL="0" indent="0">
              <a:lnSpc>
                <a:spcPts val="5600"/>
              </a:lnSpc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</a:t>
            </a:r>
            <a:endParaRPr lang="en-US" sz="5400" dirty="0"/>
          </a:p>
        </p:txBody>
      </p:sp>
      <p:sp>
        <p:nvSpPr>
          <p:cNvPr id="7" name="Text 5"/>
          <p:cNvSpPr/>
          <p:nvPr/>
        </p:nvSpPr>
        <p:spPr>
          <a:xfrm>
            <a:off x="822960" y="3794760"/>
            <a:ext cx="8778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E4D9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 480W / CS 481  —  From Concept to Deployment in Two Semesters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822960" y="4434840"/>
            <a:ext cx="2011680" cy="0"/>
          </a:xfrm>
          <a:prstGeom prst="line">
            <a:avLst/>
          </a:prstGeom>
          <a:noFill/>
          <a:ln w="25400">
            <a:solidFill>
              <a:srgbClr val="C0AC7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822960" y="4709160"/>
            <a:ext cx="6400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Professor Fred Agbo, PhD</a:t>
            </a:r>
            <a:endParaRPr lang="en-US" sz="13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4D9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Assistant Professor of Computer Science</a:t>
            </a:r>
            <a:endParaRPr lang="en-US" sz="13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4D9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Ford Hall 209 · fjagbo@willamette.edu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E4D9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Willamette University · Department of Computer Science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074152" y="6528816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E4D9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 480W/481 · Senior Capstone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97680" cy="6858000"/>
          </a:xfrm>
          <a:prstGeom prst="rect">
            <a:avLst/>
          </a:prstGeom>
          <a:solidFill>
            <a:srgbClr val="791716"/>
          </a:solidFill>
          <a:ln/>
        </p:spPr>
        <p:txBody>
          <a:bodyPr/>
          <a:lstStyle/>
          <a:p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502920" y="45720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C0A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02920" y="1051560"/>
            <a:ext cx="356616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34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Welcome to</a:t>
            </a:r>
            <a:endParaRPr lang="en-US" sz="3200" dirty="0"/>
          </a:p>
          <a:p>
            <a:pPr marL="0" indent="0">
              <a:lnSpc>
                <a:spcPts val="34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Capstone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02920" y="3063240"/>
            <a:ext cx="35204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dirty="0">
                <a:solidFill>
                  <a:srgbClr val="E4D9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culmination of everything you've learned — where you design, build, and ship something real.</a:t>
            </a: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1828800" y="5212080"/>
            <a:ext cx="914400" cy="914400"/>
          </a:xfrm>
          <a:prstGeom prst="ellipse">
            <a:avLst/>
          </a:prstGeom>
          <a:solidFill>
            <a:srgbClr val="540F0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0" descr="icon_compas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48256" y="5431536"/>
            <a:ext cx="475488" cy="475488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4709160" y="713232"/>
            <a:ext cx="384048" cy="384048"/>
          </a:xfrm>
          <a:prstGeom prst="ellipse">
            <a:avLst/>
          </a:prstGeom>
          <a:solidFill>
            <a:srgbClr val="C0AC7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4709160" y="71323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7917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5257800" y="658368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7917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full semesters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5257800" y="1014984"/>
            <a:ext cx="6400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2A2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 2026 (CS 480W) through Spring 2027 (CS 481) — 8 credits, one continuous project.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4709160" y="2039112"/>
            <a:ext cx="384048" cy="384048"/>
          </a:xfrm>
          <a:prstGeom prst="ellipse">
            <a:avLst/>
          </a:prstGeom>
          <a:solidFill>
            <a:srgbClr val="C0AC7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4709160" y="203911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7917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5257800" y="1984248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7917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own project, start to finish</a:t>
            </a:r>
            <a:endParaRPr lang="en-US" sz="2000" dirty="0"/>
          </a:p>
        </p:txBody>
      </p:sp>
      <p:sp>
        <p:nvSpPr>
          <p:cNvPr id="15" name="Text 12"/>
          <p:cNvSpPr/>
          <p:nvPr/>
        </p:nvSpPr>
        <p:spPr>
          <a:xfrm>
            <a:off x="5257800" y="2340864"/>
            <a:ext cx="6400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2A2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choose it, scope it, architect it, build it, test it, and deploy it.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4709160" y="3364992"/>
            <a:ext cx="384048" cy="384048"/>
          </a:xfrm>
          <a:prstGeom prst="ellipse">
            <a:avLst/>
          </a:prstGeom>
          <a:solidFill>
            <a:srgbClr val="C0AC7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4709160" y="336499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7917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5257800" y="3310128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7917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Industry-standard practice</a:t>
            </a:r>
            <a:endParaRPr lang="en-US" sz="2000" dirty="0"/>
          </a:p>
        </p:txBody>
      </p:sp>
      <p:sp>
        <p:nvSpPr>
          <p:cNvPr id="19" name="Text 16"/>
          <p:cNvSpPr/>
          <p:nvPr/>
        </p:nvSpPr>
        <p:spPr>
          <a:xfrm>
            <a:off x="5257800" y="3666744"/>
            <a:ext cx="6400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2A2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SDLC methodology: agile sprints, code review, CI/CD, and documentation — the way professional teams work.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4709160" y="4690872"/>
            <a:ext cx="384048" cy="384048"/>
          </a:xfrm>
          <a:prstGeom prst="ellipse">
            <a:avLst/>
          </a:prstGeom>
          <a:solidFill>
            <a:srgbClr val="C0AC7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4709160" y="469087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7917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22" name="Text 19"/>
          <p:cNvSpPr/>
          <p:nvPr/>
        </p:nvSpPr>
        <p:spPr>
          <a:xfrm>
            <a:off x="5257800" y="4636008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7917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portfolio piece that speaks for you</a:t>
            </a:r>
            <a:endParaRPr lang="en-US" sz="2000" dirty="0"/>
          </a:p>
        </p:txBody>
      </p:sp>
      <p:sp>
        <p:nvSpPr>
          <p:cNvPr id="23" name="Text 20"/>
          <p:cNvSpPr/>
          <p:nvPr/>
        </p:nvSpPr>
        <p:spPr>
          <a:xfrm>
            <a:off x="5257800" y="4992624"/>
            <a:ext cx="6400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2A2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Something you can demo in an interview, not just describe on a resume.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C8F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Welcome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8074152" y="6528816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C8F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 480W/481 · Senior Capstone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C0A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7917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Meet Your Instructor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1874520"/>
            <a:ext cx="2377440" cy="2377440"/>
          </a:xfrm>
          <a:prstGeom prst="ellipse">
            <a:avLst/>
          </a:prstGeom>
          <a:solidFill>
            <a:srgbClr val="E4D9BE"/>
          </a:solidFill>
          <a:ln w="38100">
            <a:solidFill>
              <a:srgbClr val="C0AC7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Image 0" descr="icon_us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7320" y="2468880"/>
            <a:ext cx="1188720" cy="11887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657600" y="192024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7917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Professor Fred Agbo, PhD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3657600" y="2395728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2A2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Assistant Professor of Computer Science</a:t>
            </a:r>
            <a:endParaRPr lang="en-US" sz="1400" dirty="0"/>
          </a:p>
        </p:txBody>
      </p:sp>
      <p:pic>
        <p:nvPicPr>
          <p:cNvPr id="8" name="Image 1" descr="icon_mappin_dar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0" y="3063240"/>
            <a:ext cx="292608" cy="29260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114800" y="3017520"/>
            <a:ext cx="7315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A2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Ford Hall 209 · Salem</a:t>
            </a:r>
            <a:endParaRPr lang="en-US" sz="1300" dirty="0"/>
          </a:p>
        </p:txBody>
      </p:sp>
      <p:pic>
        <p:nvPicPr>
          <p:cNvPr id="10" name="Image 2" descr="icon_mail_dar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57600" y="3566160"/>
            <a:ext cx="292608" cy="292608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4114800" y="3520440"/>
            <a:ext cx="7315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A2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fjagbo@willamette.edu</a:t>
            </a:r>
            <a:endParaRPr lang="en-US" sz="1300" dirty="0"/>
          </a:p>
        </p:txBody>
      </p:sp>
      <p:pic>
        <p:nvPicPr>
          <p:cNvPr id="12" name="Image 3" descr="icon_calendar_dar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57600" y="4069080"/>
            <a:ext cx="292608" cy="292608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4114800" y="4023360"/>
            <a:ext cx="7315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A2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 hours: 15-min appointments or drop-in — in person, phone, or Google Meet</a:t>
            </a:r>
            <a:endParaRPr lang="en-US" sz="1300" dirty="0"/>
          </a:p>
        </p:txBody>
      </p:sp>
      <p:sp>
        <p:nvSpPr>
          <p:cNvPr id="14" name="Shape 8"/>
          <p:cNvSpPr/>
          <p:nvPr/>
        </p:nvSpPr>
        <p:spPr>
          <a:xfrm>
            <a:off x="548640" y="4892040"/>
            <a:ext cx="11064240" cy="1234440"/>
          </a:xfrm>
          <a:prstGeom prst="rect">
            <a:avLst/>
          </a:prstGeom>
          <a:solidFill>
            <a:srgbClr val="E4D9B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9"/>
          <p:cNvSpPr/>
          <p:nvPr/>
        </p:nvSpPr>
        <p:spPr>
          <a:xfrm>
            <a:off x="868680" y="5029200"/>
            <a:ext cx="10424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7917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Think of me as your Product Owner.</a:t>
            </a:r>
            <a:endParaRPr lang="en-US" dirty="0"/>
          </a:p>
        </p:txBody>
      </p:sp>
      <p:sp>
        <p:nvSpPr>
          <p:cNvPr id="16" name="Text 10"/>
          <p:cNvSpPr/>
          <p:nvPr/>
        </p:nvSpPr>
        <p:spPr>
          <a:xfrm>
            <a:off x="868680" y="5394960"/>
            <a:ext cx="10424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2A2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I'll set direction, review your sprints weekly, and push your project toward something you're proud to ship — but the roadmap, the decisions, and the code are yours.</a:t>
            </a:r>
            <a:endParaRPr lang="en-US" sz="1600" dirty="0"/>
          </a:p>
        </p:txBody>
      </p:sp>
      <p:sp>
        <p:nvSpPr>
          <p:cNvPr id="17" name="Text 11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C8F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Team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8074152" y="6528816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C8F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 480W/481 · Senior Capstone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7917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C0A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By the End, You Will Have…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2084832" cy="3840480"/>
          </a:xfrm>
          <a:prstGeom prst="roundRect">
            <a:avLst>
              <a:gd name="adj" fmla="val 5263"/>
            </a:avLst>
          </a:prstGeom>
          <a:solidFill>
            <a:srgbClr val="540F0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156716" y="2171700"/>
            <a:ext cx="868680" cy="868680"/>
          </a:xfrm>
          <a:prstGeom prst="ellipse">
            <a:avLst/>
          </a:prstGeom>
          <a:solidFill>
            <a:srgbClr val="C0AC7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icon_fla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5199" y="2380183"/>
            <a:ext cx="451714" cy="45171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85800" y="3246120"/>
            <a:ext cx="181051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complete application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685800" y="4160520"/>
            <a:ext cx="1810512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600" dirty="0">
                <a:solidFill>
                  <a:srgbClr val="E4D9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Full-stack, concept through deployment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2834640" y="1828800"/>
            <a:ext cx="2084832" cy="3840480"/>
          </a:xfrm>
          <a:prstGeom prst="roundRect">
            <a:avLst>
              <a:gd name="adj" fmla="val 5263"/>
            </a:avLst>
          </a:prstGeom>
          <a:solidFill>
            <a:srgbClr val="540F0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3442716" y="2171700"/>
            <a:ext cx="868680" cy="868680"/>
          </a:xfrm>
          <a:prstGeom prst="ellipse">
            <a:avLst/>
          </a:prstGeom>
          <a:solidFill>
            <a:srgbClr val="C0AC7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Image 1" descr="icon_checkcirc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1199" y="2380183"/>
            <a:ext cx="451714" cy="45171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971800" y="3246120"/>
            <a:ext cx="181051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Modern dev practices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2971800" y="4160520"/>
            <a:ext cx="1810512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600" dirty="0">
                <a:solidFill>
                  <a:srgbClr val="E4D9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Proven proficiency across the SDLC</a:t>
            </a:r>
            <a:endParaRPr lang="en-US" sz="1600" dirty="0"/>
          </a:p>
        </p:txBody>
      </p:sp>
      <p:sp>
        <p:nvSpPr>
          <p:cNvPr id="14" name="Shape 10"/>
          <p:cNvSpPr/>
          <p:nvPr/>
        </p:nvSpPr>
        <p:spPr>
          <a:xfrm>
            <a:off x="5120640" y="1828800"/>
            <a:ext cx="2084832" cy="3840480"/>
          </a:xfrm>
          <a:prstGeom prst="roundRect">
            <a:avLst>
              <a:gd name="adj" fmla="val 5263"/>
            </a:avLst>
          </a:prstGeom>
          <a:solidFill>
            <a:srgbClr val="540F0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1"/>
          <p:cNvSpPr/>
          <p:nvPr/>
        </p:nvSpPr>
        <p:spPr>
          <a:xfrm>
            <a:off x="5728716" y="2171700"/>
            <a:ext cx="868680" cy="868680"/>
          </a:xfrm>
          <a:prstGeom prst="ellipse">
            <a:avLst/>
          </a:prstGeom>
          <a:solidFill>
            <a:srgbClr val="C0AC7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6" name="Image 2" descr="icon_bookope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37199" y="2380183"/>
            <a:ext cx="451714" cy="45171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5257800" y="3246120"/>
            <a:ext cx="181051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 documentation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5257800" y="4160520"/>
            <a:ext cx="1810512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600" dirty="0">
                <a:solidFill>
                  <a:srgbClr val="E4D9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docs that outlast the course</a:t>
            </a:r>
            <a:endParaRPr lang="en-US" sz="1600" dirty="0"/>
          </a:p>
        </p:txBody>
      </p:sp>
      <p:sp>
        <p:nvSpPr>
          <p:cNvPr id="19" name="Shape 14"/>
          <p:cNvSpPr/>
          <p:nvPr/>
        </p:nvSpPr>
        <p:spPr>
          <a:xfrm>
            <a:off x="7406640" y="1828800"/>
            <a:ext cx="2084832" cy="3840480"/>
          </a:xfrm>
          <a:prstGeom prst="roundRect">
            <a:avLst>
              <a:gd name="adj" fmla="val 5263"/>
            </a:avLst>
          </a:prstGeom>
          <a:solidFill>
            <a:srgbClr val="540F0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5"/>
          <p:cNvSpPr/>
          <p:nvPr/>
        </p:nvSpPr>
        <p:spPr>
          <a:xfrm>
            <a:off x="8014716" y="2171700"/>
            <a:ext cx="868680" cy="868680"/>
          </a:xfrm>
          <a:prstGeom prst="ellipse">
            <a:avLst/>
          </a:prstGeom>
          <a:solidFill>
            <a:srgbClr val="C0AC7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1" name="Image 3" descr="icon_messagecircl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23199" y="2380183"/>
            <a:ext cx="451714" cy="45171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543800" y="3246120"/>
            <a:ext cx="181051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Presentation skill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7543800" y="4160520"/>
            <a:ext cx="1810512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600" dirty="0">
                <a:solidFill>
                  <a:srgbClr val="E4D9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technical and general audiences alike</a:t>
            </a:r>
            <a:endParaRPr lang="en-US" sz="1600" dirty="0"/>
          </a:p>
        </p:txBody>
      </p:sp>
      <p:sp>
        <p:nvSpPr>
          <p:cNvPr id="24" name="Shape 18"/>
          <p:cNvSpPr/>
          <p:nvPr/>
        </p:nvSpPr>
        <p:spPr>
          <a:xfrm>
            <a:off x="9692640" y="1828800"/>
            <a:ext cx="2084832" cy="3840480"/>
          </a:xfrm>
          <a:prstGeom prst="roundRect">
            <a:avLst>
              <a:gd name="adj" fmla="val 5263"/>
            </a:avLst>
          </a:prstGeom>
          <a:solidFill>
            <a:srgbClr val="540F0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19"/>
          <p:cNvSpPr/>
          <p:nvPr/>
        </p:nvSpPr>
        <p:spPr>
          <a:xfrm>
            <a:off x="10300716" y="2171700"/>
            <a:ext cx="868680" cy="868680"/>
          </a:xfrm>
          <a:prstGeom prst="ellipse">
            <a:avLst/>
          </a:prstGeom>
          <a:solidFill>
            <a:srgbClr val="C0AC7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6" name="Image 4" descr="icon_awar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509199" y="2380183"/>
            <a:ext cx="451714" cy="451714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9829800" y="3246120"/>
            <a:ext cx="181051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portfolio piece</a:t>
            </a:r>
            <a:endParaRPr lang="en-US" sz="1400" dirty="0"/>
          </a:p>
        </p:txBody>
      </p:sp>
      <p:sp>
        <p:nvSpPr>
          <p:cNvPr id="28" name="Text 21"/>
          <p:cNvSpPr/>
          <p:nvPr/>
        </p:nvSpPr>
        <p:spPr>
          <a:xfrm>
            <a:off x="9829800" y="4160520"/>
            <a:ext cx="1810512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600" dirty="0">
                <a:solidFill>
                  <a:srgbClr val="E4D9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 of what you can actually build</a:t>
            </a:r>
            <a:endParaRPr lang="en-US" sz="1600" dirty="0"/>
          </a:p>
        </p:txBody>
      </p:sp>
      <p:sp>
        <p:nvSpPr>
          <p:cNvPr id="29" name="Text 22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E4D9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Goals</a:t>
            </a:r>
            <a:endParaRPr lang="en-US" sz="1000" dirty="0"/>
          </a:p>
        </p:txBody>
      </p:sp>
      <p:sp>
        <p:nvSpPr>
          <p:cNvPr id="30" name="Text 23"/>
          <p:cNvSpPr/>
          <p:nvPr/>
        </p:nvSpPr>
        <p:spPr>
          <a:xfrm>
            <a:off x="8074152" y="6528816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E4D9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 480W/481 · Senior Capstone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C0A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7917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Journey Ahead — Two Semesters, One Project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2148840"/>
          </a:xfrm>
          <a:prstGeom prst="roundRect">
            <a:avLst>
              <a:gd name="adj" fmla="val 4255"/>
            </a:avLst>
          </a:prstGeom>
          <a:solidFill>
            <a:srgbClr val="79171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22960" y="18288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C0A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SEMESTER 1 · CS 480W · FALL 2026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22960" y="2286000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0A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1–4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2651760"/>
            <a:ext cx="2423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Initiation &amp;</a:t>
            </a:r>
            <a:endParaRPr lang="en-US" sz="15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Planning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3376879" y="2331720"/>
            <a:ext cx="0" cy="1234440"/>
          </a:xfrm>
          <a:prstGeom prst="line">
            <a:avLst/>
          </a:prstGeom>
          <a:noFill/>
          <a:ln w="12700">
            <a:solidFill>
              <a:srgbClr val="C0AC7E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429000" y="2286000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0A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5–8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429000" y="2651760"/>
            <a:ext cx="2423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Design &amp;</a:t>
            </a:r>
            <a:endParaRPr lang="en-US" sz="15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5982919" y="2331720"/>
            <a:ext cx="0" cy="1234440"/>
          </a:xfrm>
          <a:prstGeom prst="line">
            <a:avLst/>
          </a:prstGeom>
          <a:noFill/>
          <a:ln w="12700">
            <a:solidFill>
              <a:srgbClr val="C0AC7E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035040" y="2286000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0A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9–14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035040" y="2651760"/>
            <a:ext cx="2423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Foundation</a:t>
            </a:r>
            <a:endParaRPr lang="en-US" sz="15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Development</a:t>
            </a:r>
            <a:endParaRPr lang="en-US" sz="1550" dirty="0"/>
          </a:p>
        </p:txBody>
      </p:sp>
      <p:sp>
        <p:nvSpPr>
          <p:cNvPr id="14" name="Shape 12"/>
          <p:cNvSpPr/>
          <p:nvPr/>
        </p:nvSpPr>
        <p:spPr>
          <a:xfrm>
            <a:off x="8588959" y="2331720"/>
            <a:ext cx="0" cy="1234440"/>
          </a:xfrm>
          <a:prstGeom prst="line">
            <a:avLst/>
          </a:prstGeom>
          <a:noFill/>
          <a:ln w="12700">
            <a:solidFill>
              <a:srgbClr val="C0AC7E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8641080" y="2286000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0A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15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641080" y="2651760"/>
            <a:ext cx="2423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Wrap-Up &amp;</a:t>
            </a:r>
            <a:endParaRPr lang="en-US" sz="15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Prototype Demo</a:t>
            </a:r>
            <a:endParaRPr lang="en-US" sz="1550" dirty="0"/>
          </a:p>
        </p:txBody>
      </p:sp>
      <p:sp>
        <p:nvSpPr>
          <p:cNvPr id="17" name="Shape 15"/>
          <p:cNvSpPr/>
          <p:nvPr/>
        </p:nvSpPr>
        <p:spPr>
          <a:xfrm>
            <a:off x="548640" y="4023360"/>
            <a:ext cx="11064240" cy="2148840"/>
          </a:xfrm>
          <a:prstGeom prst="roundRect">
            <a:avLst>
              <a:gd name="adj" fmla="val 4255"/>
            </a:avLst>
          </a:prstGeom>
          <a:solidFill>
            <a:srgbClr val="C0AC7E"/>
          </a:solidFill>
          <a:ln/>
        </p:spPr>
        <p:txBody>
          <a:bodyPr/>
          <a:lstStyle/>
          <a:p>
            <a:endParaRPr lang="en-US" sz="1400"/>
          </a:p>
        </p:txBody>
      </p:sp>
      <p:sp>
        <p:nvSpPr>
          <p:cNvPr id="18" name="Text 16"/>
          <p:cNvSpPr/>
          <p:nvPr/>
        </p:nvSpPr>
        <p:spPr>
          <a:xfrm>
            <a:off x="822960" y="41605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7917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SEMESTER 2 · CS 481 · SPRING 2027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22960" y="4617720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917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1–6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22960" y="4983480"/>
            <a:ext cx="2423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550" dirty="0">
                <a:solidFill>
                  <a:srgbClr val="3A2E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</a:t>
            </a:r>
            <a:endParaRPr lang="en-US" sz="15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550" dirty="0">
                <a:solidFill>
                  <a:srgbClr val="3A2E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Development</a:t>
            </a:r>
            <a:endParaRPr lang="en-US" sz="1550" dirty="0"/>
          </a:p>
        </p:txBody>
      </p:sp>
      <p:sp>
        <p:nvSpPr>
          <p:cNvPr id="21" name="Shape 19"/>
          <p:cNvSpPr/>
          <p:nvPr/>
        </p:nvSpPr>
        <p:spPr>
          <a:xfrm>
            <a:off x="3376879" y="4663440"/>
            <a:ext cx="0" cy="1234440"/>
          </a:xfrm>
          <a:prstGeom prst="line">
            <a:avLst/>
          </a:prstGeom>
          <a:noFill/>
          <a:ln w="12700">
            <a:solidFill>
              <a:srgbClr val="791716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3429000" y="4617720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917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7–10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429000" y="4983480"/>
            <a:ext cx="2423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550" dirty="0">
                <a:solidFill>
                  <a:srgbClr val="3A2E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Testing &amp;</a:t>
            </a:r>
            <a:endParaRPr lang="en-US" sz="15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550" dirty="0">
                <a:solidFill>
                  <a:srgbClr val="3A2E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Quality Assurance</a:t>
            </a:r>
            <a:endParaRPr lang="en-US" sz="1550" dirty="0"/>
          </a:p>
        </p:txBody>
      </p:sp>
      <p:sp>
        <p:nvSpPr>
          <p:cNvPr id="24" name="Shape 22"/>
          <p:cNvSpPr/>
          <p:nvPr/>
        </p:nvSpPr>
        <p:spPr>
          <a:xfrm>
            <a:off x="5982919" y="4663440"/>
            <a:ext cx="0" cy="1234440"/>
          </a:xfrm>
          <a:prstGeom prst="line">
            <a:avLst/>
          </a:prstGeom>
          <a:noFill/>
          <a:ln w="12700">
            <a:solidFill>
              <a:srgbClr val="791716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035040" y="4617720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917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11–13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035040" y="4983480"/>
            <a:ext cx="2423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550" dirty="0">
                <a:solidFill>
                  <a:srgbClr val="3A2E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Deployment &amp;</a:t>
            </a:r>
            <a:endParaRPr lang="en-US" sz="15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550" dirty="0">
                <a:solidFill>
                  <a:srgbClr val="3A2E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Documentation</a:t>
            </a:r>
            <a:endParaRPr lang="en-US" sz="1550" dirty="0"/>
          </a:p>
        </p:txBody>
      </p:sp>
      <p:sp>
        <p:nvSpPr>
          <p:cNvPr id="27" name="Shape 25"/>
          <p:cNvSpPr/>
          <p:nvPr/>
        </p:nvSpPr>
        <p:spPr>
          <a:xfrm>
            <a:off x="8588959" y="4663440"/>
            <a:ext cx="0" cy="1234440"/>
          </a:xfrm>
          <a:prstGeom prst="line">
            <a:avLst/>
          </a:prstGeom>
          <a:noFill/>
          <a:ln w="12700">
            <a:solidFill>
              <a:srgbClr val="791716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8641080" y="4617720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917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14–15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8641080" y="4983480"/>
            <a:ext cx="2423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550" dirty="0">
                <a:solidFill>
                  <a:srgbClr val="3A2E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Showcase &amp;</a:t>
            </a:r>
            <a:endParaRPr lang="en-US" sz="15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550" dirty="0">
                <a:solidFill>
                  <a:srgbClr val="3A2E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Handoff</a:t>
            </a:r>
            <a:endParaRPr lang="en-US" sz="1550" dirty="0"/>
          </a:p>
        </p:txBody>
      </p:sp>
      <p:sp>
        <p:nvSpPr>
          <p:cNvPr id="30" name="Text 28"/>
          <p:cNvSpPr/>
          <p:nvPr/>
        </p:nvSpPr>
        <p:spPr>
          <a:xfrm>
            <a:off x="548640" y="626364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8A7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roadmap and weekly deliverables are in the syllabus — this is your flight path for the year.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C8F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Roadmap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8074152" y="6528816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C8F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 480W/481 · Senior Capstone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C0A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7917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Weekly Rhythm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B5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week runs on the same cycle — consistency is what makes agile work.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057400"/>
            <a:ext cx="2084832" cy="3566160"/>
          </a:xfrm>
          <a:prstGeom prst="roundRect">
            <a:avLst>
              <a:gd name="adj" fmla="val 5263"/>
            </a:avLst>
          </a:prstGeom>
          <a:solidFill>
            <a:srgbClr val="E4D9BE"/>
          </a:solidFill>
          <a:ln w="12700">
            <a:solidFill>
              <a:srgbClr val="C0AC7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202436" y="2354580"/>
            <a:ext cx="777240" cy="777240"/>
          </a:xfrm>
          <a:prstGeom prst="ellipse">
            <a:avLst/>
          </a:prstGeom>
          <a:solidFill>
            <a:srgbClr val="79171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0" descr="icon_calend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8974" y="2541118"/>
            <a:ext cx="404165" cy="40416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40080" y="3291840"/>
            <a:ext cx="19019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kern="0" spc="100" dirty="0">
                <a:solidFill>
                  <a:srgbClr val="8A6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MONDAY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658368" y="3611880"/>
            <a:ext cx="186537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7917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Sprint Planning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658368" y="4389120"/>
            <a:ext cx="1865376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dirty="0">
                <a:solidFill>
                  <a:srgbClr val="2A2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the week's backlog</a:t>
            </a:r>
            <a:endParaRPr lang="en-US" sz="1400" dirty="0"/>
          </a:p>
        </p:txBody>
      </p:sp>
      <p:pic>
        <p:nvPicPr>
          <p:cNvPr id="11" name="Image 1" descr="icon_arrowright_dar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42616" y="3657600"/>
            <a:ext cx="182880" cy="18288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2834640" y="2057400"/>
            <a:ext cx="2084832" cy="3566160"/>
          </a:xfrm>
          <a:prstGeom prst="roundRect">
            <a:avLst>
              <a:gd name="adj" fmla="val 5263"/>
            </a:avLst>
          </a:prstGeom>
          <a:solidFill>
            <a:srgbClr val="FBF9F5"/>
          </a:solidFill>
          <a:ln w="12700">
            <a:solidFill>
              <a:srgbClr val="C0AC7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9"/>
          <p:cNvSpPr/>
          <p:nvPr/>
        </p:nvSpPr>
        <p:spPr>
          <a:xfrm>
            <a:off x="3488436" y="2354580"/>
            <a:ext cx="777240" cy="777240"/>
          </a:xfrm>
          <a:prstGeom prst="ellipse">
            <a:avLst/>
          </a:prstGeom>
          <a:solidFill>
            <a:srgbClr val="79171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4" name="Image 2" descr="icon_cod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74974" y="2541118"/>
            <a:ext cx="404165" cy="404165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2926080" y="3291840"/>
            <a:ext cx="19019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kern="0" spc="100" dirty="0">
                <a:solidFill>
                  <a:srgbClr val="8A6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TUE–THU</a:t>
            </a:r>
            <a:endParaRPr lang="en-US" sz="1050" dirty="0"/>
          </a:p>
        </p:txBody>
      </p:sp>
      <p:sp>
        <p:nvSpPr>
          <p:cNvPr id="16" name="Text 11"/>
          <p:cNvSpPr/>
          <p:nvPr/>
        </p:nvSpPr>
        <p:spPr>
          <a:xfrm>
            <a:off x="2944368" y="3611880"/>
            <a:ext cx="186537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7917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Development Work</a:t>
            </a:r>
            <a:endParaRPr lang="en-US" sz="1600" dirty="0"/>
          </a:p>
        </p:txBody>
      </p:sp>
      <p:sp>
        <p:nvSpPr>
          <p:cNvPr id="17" name="Text 12"/>
          <p:cNvSpPr/>
          <p:nvPr/>
        </p:nvSpPr>
        <p:spPr>
          <a:xfrm>
            <a:off x="2944368" y="4389120"/>
            <a:ext cx="1865376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dirty="0">
                <a:solidFill>
                  <a:srgbClr val="2A2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commits, real progress</a:t>
            </a:r>
            <a:endParaRPr lang="en-US" sz="1400" dirty="0"/>
          </a:p>
        </p:txBody>
      </p:sp>
      <p:pic>
        <p:nvPicPr>
          <p:cNvPr id="18" name="Image 3" descr="icon_arrowright_dar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28616" y="3657600"/>
            <a:ext cx="182880" cy="182880"/>
          </a:xfrm>
          <a:prstGeom prst="rect">
            <a:avLst/>
          </a:prstGeom>
        </p:spPr>
      </p:pic>
      <p:sp>
        <p:nvSpPr>
          <p:cNvPr id="19" name="Shape 13"/>
          <p:cNvSpPr/>
          <p:nvPr/>
        </p:nvSpPr>
        <p:spPr>
          <a:xfrm>
            <a:off x="5120640" y="2057400"/>
            <a:ext cx="2084832" cy="3566160"/>
          </a:xfrm>
          <a:prstGeom prst="roundRect">
            <a:avLst>
              <a:gd name="adj" fmla="val 5263"/>
            </a:avLst>
          </a:prstGeom>
          <a:solidFill>
            <a:srgbClr val="E4D9BE"/>
          </a:solidFill>
          <a:ln w="12700">
            <a:solidFill>
              <a:srgbClr val="C0AC7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4"/>
          <p:cNvSpPr/>
          <p:nvPr/>
        </p:nvSpPr>
        <p:spPr>
          <a:xfrm>
            <a:off x="5774436" y="2354580"/>
            <a:ext cx="777240" cy="777240"/>
          </a:xfrm>
          <a:prstGeom prst="ellipse">
            <a:avLst/>
          </a:prstGeom>
          <a:solidFill>
            <a:srgbClr val="79171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1" name="Image 4" descr="icon_checkcircl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60974" y="2541118"/>
            <a:ext cx="404165" cy="404165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5212080" y="3291840"/>
            <a:ext cx="19019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kern="0" spc="100" dirty="0">
                <a:solidFill>
                  <a:srgbClr val="8A6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FRIDAY</a:t>
            </a:r>
            <a:endParaRPr lang="en-US" sz="1050" dirty="0"/>
          </a:p>
        </p:txBody>
      </p:sp>
      <p:sp>
        <p:nvSpPr>
          <p:cNvPr id="23" name="Text 16"/>
          <p:cNvSpPr/>
          <p:nvPr/>
        </p:nvSpPr>
        <p:spPr>
          <a:xfrm>
            <a:off x="5230368" y="3611880"/>
            <a:ext cx="186537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7917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Review &amp; Testing</a:t>
            </a:r>
            <a:endParaRPr lang="en-US" sz="1600" dirty="0"/>
          </a:p>
        </p:txBody>
      </p:sp>
      <p:sp>
        <p:nvSpPr>
          <p:cNvPr id="24" name="Text 17"/>
          <p:cNvSpPr/>
          <p:nvPr/>
        </p:nvSpPr>
        <p:spPr>
          <a:xfrm>
            <a:off x="5230368" y="4389120"/>
            <a:ext cx="1865376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dirty="0">
                <a:solidFill>
                  <a:srgbClr val="2A2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requests + group session</a:t>
            </a:r>
            <a:endParaRPr lang="en-US" sz="1400" dirty="0"/>
          </a:p>
        </p:txBody>
      </p:sp>
      <p:pic>
        <p:nvPicPr>
          <p:cNvPr id="25" name="Image 5" descr="icon_arrowright_dar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14616" y="3657600"/>
            <a:ext cx="182880" cy="182880"/>
          </a:xfrm>
          <a:prstGeom prst="rect">
            <a:avLst/>
          </a:prstGeom>
        </p:spPr>
      </p:pic>
      <p:sp>
        <p:nvSpPr>
          <p:cNvPr id="26" name="Shape 18"/>
          <p:cNvSpPr/>
          <p:nvPr/>
        </p:nvSpPr>
        <p:spPr>
          <a:xfrm>
            <a:off x="7406640" y="2057400"/>
            <a:ext cx="2084832" cy="3566160"/>
          </a:xfrm>
          <a:prstGeom prst="roundRect">
            <a:avLst>
              <a:gd name="adj" fmla="val 5263"/>
            </a:avLst>
          </a:prstGeom>
          <a:solidFill>
            <a:srgbClr val="FBF9F5"/>
          </a:solidFill>
          <a:ln w="12700">
            <a:solidFill>
              <a:srgbClr val="C0AC7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19"/>
          <p:cNvSpPr/>
          <p:nvPr/>
        </p:nvSpPr>
        <p:spPr>
          <a:xfrm>
            <a:off x="8060436" y="2354580"/>
            <a:ext cx="777240" cy="777240"/>
          </a:xfrm>
          <a:prstGeom prst="ellipse">
            <a:avLst/>
          </a:prstGeom>
          <a:solidFill>
            <a:srgbClr val="79171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8" name="Image 6" descr="icon_edit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46974" y="2541118"/>
            <a:ext cx="404165" cy="404165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7498080" y="3291840"/>
            <a:ext cx="19019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kern="0" spc="100" dirty="0">
                <a:solidFill>
                  <a:srgbClr val="8A6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WEEKEND</a:t>
            </a:r>
            <a:endParaRPr lang="en-US" sz="1050" dirty="0"/>
          </a:p>
        </p:txBody>
      </p:sp>
      <p:sp>
        <p:nvSpPr>
          <p:cNvPr id="30" name="Text 21"/>
          <p:cNvSpPr/>
          <p:nvPr/>
        </p:nvSpPr>
        <p:spPr>
          <a:xfrm>
            <a:off x="7516368" y="3611880"/>
            <a:ext cx="186537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7917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Docs &amp; Reflection</a:t>
            </a:r>
            <a:endParaRPr lang="en-US" sz="1600" dirty="0"/>
          </a:p>
        </p:txBody>
      </p:sp>
      <p:sp>
        <p:nvSpPr>
          <p:cNvPr id="31" name="Text 22"/>
          <p:cNvSpPr/>
          <p:nvPr/>
        </p:nvSpPr>
        <p:spPr>
          <a:xfrm>
            <a:off x="7516368" y="4389120"/>
            <a:ext cx="1865376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dirty="0">
                <a:solidFill>
                  <a:srgbClr val="2A2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it down while it's fresh</a:t>
            </a:r>
            <a:endParaRPr lang="en-US" sz="1400" dirty="0"/>
          </a:p>
        </p:txBody>
      </p:sp>
      <p:pic>
        <p:nvPicPr>
          <p:cNvPr id="32" name="Image 7" descr="icon_arrowright_dar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00616" y="3657600"/>
            <a:ext cx="182880" cy="182880"/>
          </a:xfrm>
          <a:prstGeom prst="rect">
            <a:avLst/>
          </a:prstGeom>
        </p:spPr>
      </p:pic>
      <p:sp>
        <p:nvSpPr>
          <p:cNvPr id="33" name="Shape 23"/>
          <p:cNvSpPr/>
          <p:nvPr/>
        </p:nvSpPr>
        <p:spPr>
          <a:xfrm>
            <a:off x="9692640" y="2057400"/>
            <a:ext cx="2084832" cy="3566160"/>
          </a:xfrm>
          <a:prstGeom prst="roundRect">
            <a:avLst>
              <a:gd name="adj" fmla="val 5263"/>
            </a:avLst>
          </a:prstGeom>
          <a:solidFill>
            <a:srgbClr val="E4D9BE"/>
          </a:solidFill>
          <a:ln w="12700">
            <a:solidFill>
              <a:srgbClr val="C0AC7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24"/>
          <p:cNvSpPr/>
          <p:nvPr/>
        </p:nvSpPr>
        <p:spPr>
          <a:xfrm>
            <a:off x="10346436" y="2354580"/>
            <a:ext cx="777240" cy="777240"/>
          </a:xfrm>
          <a:prstGeom prst="ellipse">
            <a:avLst/>
          </a:prstGeom>
          <a:solidFill>
            <a:srgbClr val="79171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5" name="Image 8" descr="icon_messagecircl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532974" y="2541118"/>
            <a:ext cx="404165" cy="404165"/>
          </a:xfrm>
          <a:prstGeom prst="rect">
            <a:avLst/>
          </a:prstGeom>
        </p:spPr>
      </p:pic>
      <p:sp>
        <p:nvSpPr>
          <p:cNvPr id="36" name="Text 25"/>
          <p:cNvSpPr/>
          <p:nvPr/>
        </p:nvSpPr>
        <p:spPr>
          <a:xfrm>
            <a:off x="9784080" y="3291840"/>
            <a:ext cx="19019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kern="0" spc="100" dirty="0">
                <a:solidFill>
                  <a:srgbClr val="8A6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MTG.</a:t>
            </a:r>
            <a:endParaRPr lang="en-US" sz="1050" dirty="0"/>
          </a:p>
        </p:txBody>
      </p:sp>
      <p:sp>
        <p:nvSpPr>
          <p:cNvPr id="37" name="Text 26"/>
          <p:cNvSpPr/>
          <p:nvPr/>
        </p:nvSpPr>
        <p:spPr>
          <a:xfrm>
            <a:off x="9802368" y="3611880"/>
            <a:ext cx="186537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7917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Sprint Review</a:t>
            </a:r>
            <a:endParaRPr lang="en-US" sz="1600" dirty="0"/>
          </a:p>
        </p:txBody>
      </p:sp>
      <p:sp>
        <p:nvSpPr>
          <p:cNvPr id="38" name="Text 27"/>
          <p:cNvSpPr/>
          <p:nvPr/>
        </p:nvSpPr>
        <p:spPr>
          <a:xfrm>
            <a:off x="9802368" y="4389120"/>
            <a:ext cx="1865376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dirty="0">
                <a:solidFill>
                  <a:srgbClr val="2A2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to your instructor</a:t>
            </a:r>
            <a:endParaRPr lang="en-US" sz="1400" dirty="0"/>
          </a:p>
        </p:txBody>
      </p:sp>
      <p:sp>
        <p:nvSpPr>
          <p:cNvPr id="39" name="Text 28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C8F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Rhythm</a:t>
            </a:r>
            <a:endParaRPr lang="en-US" sz="1000" dirty="0"/>
          </a:p>
        </p:txBody>
      </p:sp>
      <p:sp>
        <p:nvSpPr>
          <p:cNvPr id="40" name="Text 29"/>
          <p:cNvSpPr/>
          <p:nvPr/>
        </p:nvSpPr>
        <p:spPr>
          <a:xfrm>
            <a:off x="8074152" y="6528816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C8F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 480W/481 · Senior Capstone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C0A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7917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Meetings, Every Single Week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349240" cy="420624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19050">
            <a:solidFill>
              <a:srgbClr val="C0AC7E"/>
            </a:solidFill>
            <a:prstDash val="solid"/>
          </a:ln>
          <a:effectLst>
            <a:outerShdw blurRad="101600" dist="38100" dir="54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 sz="1400"/>
          </a:p>
        </p:txBody>
      </p:sp>
      <p:sp>
        <p:nvSpPr>
          <p:cNvPr id="5" name="Shape 3"/>
          <p:cNvSpPr/>
          <p:nvPr/>
        </p:nvSpPr>
        <p:spPr>
          <a:xfrm>
            <a:off x="960120" y="2057400"/>
            <a:ext cx="914400" cy="914400"/>
          </a:xfrm>
          <a:prstGeom prst="ellipse">
            <a:avLst/>
          </a:prstGeom>
          <a:solidFill>
            <a:srgbClr val="79171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icon_use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9576" y="2276856"/>
            <a:ext cx="475488" cy="47548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057400" y="21488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7917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Group Review Session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2057400" y="251460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B5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Friday · 10:30–11:00 AM · Ford Hall 209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868680" y="324612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A2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Attendance expected from everyone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868680" y="370332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A2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Review the week's milestones together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868680" y="416052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A2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Peer collaboration &amp; shared problem-solving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6263640" y="1783080"/>
            <a:ext cx="5349240" cy="4206240"/>
          </a:xfrm>
          <a:prstGeom prst="roundRect">
            <a:avLst>
              <a:gd name="adj" fmla="val 2609"/>
            </a:avLst>
          </a:prstGeom>
          <a:solidFill>
            <a:srgbClr val="791716"/>
          </a:solidFill>
          <a:ln/>
          <a:effectLst>
            <a:outerShdw blurRad="101600" dist="38100" dir="54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6675120" y="2057400"/>
            <a:ext cx="914400" cy="914400"/>
          </a:xfrm>
          <a:prstGeom prst="ellipse">
            <a:avLst/>
          </a:prstGeom>
          <a:solidFill>
            <a:srgbClr val="C0AC7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4" name="Image 1" descr="icon_us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94576" y="2276856"/>
            <a:ext cx="475488" cy="475488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7772400" y="21488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Individual Sprint Review</a:t>
            </a:r>
            <a:endParaRPr lang="en-US" sz="1700" dirty="0"/>
          </a:p>
        </p:txBody>
      </p:sp>
      <p:sp>
        <p:nvSpPr>
          <p:cNvPr id="16" name="Text 12"/>
          <p:cNvSpPr/>
          <p:nvPr/>
        </p:nvSpPr>
        <p:spPr>
          <a:xfrm>
            <a:off x="7772400" y="25146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E4D9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minutes, weekly · You book it</a:t>
            </a:r>
            <a:endParaRPr lang="en-US" sz="1600" dirty="0"/>
          </a:p>
        </p:txBody>
      </p:sp>
      <p:sp>
        <p:nvSpPr>
          <p:cNvPr id="17" name="Text 13"/>
          <p:cNvSpPr/>
          <p:nvPr/>
        </p:nvSpPr>
        <p:spPr>
          <a:xfrm>
            <a:off x="6537960" y="324612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You reserve your own slot each week</a:t>
            </a:r>
            <a:endParaRPr lang="en-US" sz="1400" dirty="0"/>
          </a:p>
        </p:txBody>
      </p:sp>
      <p:sp>
        <p:nvSpPr>
          <p:cNvPr id="18" name="Text 14"/>
          <p:cNvSpPr/>
          <p:nvPr/>
        </p:nvSpPr>
        <p:spPr>
          <a:xfrm>
            <a:off x="6537960" y="370332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Demo your progress 1-on-1</a:t>
            </a:r>
            <a:endParaRPr lang="en-US" sz="1400" dirty="0"/>
          </a:p>
        </p:txBody>
      </p:sp>
      <p:sp>
        <p:nvSpPr>
          <p:cNvPr id="19" name="Text 15"/>
          <p:cNvSpPr/>
          <p:nvPr/>
        </p:nvSpPr>
        <p:spPr>
          <a:xfrm>
            <a:off x="6537960" y="416052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Personalized feedback on blockers</a:t>
            </a:r>
            <a:endParaRPr lang="en-US" sz="1400" dirty="0"/>
          </a:p>
        </p:txBody>
      </p:sp>
      <p:sp>
        <p:nvSpPr>
          <p:cNvPr id="20" name="Shape 16"/>
          <p:cNvSpPr/>
          <p:nvPr/>
        </p:nvSpPr>
        <p:spPr>
          <a:xfrm>
            <a:off x="6537960" y="4709160"/>
            <a:ext cx="4754880" cy="868680"/>
          </a:xfrm>
          <a:prstGeom prst="roundRect">
            <a:avLst>
              <a:gd name="adj" fmla="val 8421"/>
            </a:avLst>
          </a:prstGeom>
          <a:solidFill>
            <a:srgbClr val="C0AC7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7"/>
          <p:cNvSpPr/>
          <p:nvPr/>
        </p:nvSpPr>
        <p:spPr>
          <a:xfrm>
            <a:off x="6675120" y="4709160"/>
            <a:ext cx="44805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917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📅  Book Your Sprint Review — link on course site</a:t>
            </a:r>
            <a:endParaRPr lang="en-US" sz="1400" dirty="0"/>
          </a:p>
        </p:txBody>
      </p:sp>
      <p:sp>
        <p:nvSpPr>
          <p:cNvPr id="22" name="Text 18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C8F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Meeting Expectations</a:t>
            </a:r>
            <a:endParaRPr lang="en-US" sz="1000" dirty="0"/>
          </a:p>
        </p:txBody>
      </p:sp>
      <p:sp>
        <p:nvSpPr>
          <p:cNvPr id="23" name="Text 19"/>
          <p:cNvSpPr/>
          <p:nvPr/>
        </p:nvSpPr>
        <p:spPr>
          <a:xfrm>
            <a:off x="8074152" y="6528816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C8F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 480W/481 · Senior Capstone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C0A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7917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We Run Sprints: Agile Ceremonies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2606040" cy="4023360"/>
          </a:xfrm>
          <a:prstGeom prst="roundRect">
            <a:avLst>
              <a:gd name="adj" fmla="val 4211"/>
            </a:avLst>
          </a:prstGeom>
          <a:solidFill>
            <a:srgbClr val="79171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440180" y="2194560"/>
            <a:ext cx="822960" cy="822960"/>
          </a:xfrm>
          <a:prstGeom prst="ellipse">
            <a:avLst/>
          </a:prstGeom>
          <a:solidFill>
            <a:srgbClr val="C0AC7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icon_calend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7690" y="2392070"/>
            <a:ext cx="427939" cy="42793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85800" y="3200400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Sprint Planning</a:t>
            </a: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685800" y="370332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E4D9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· 10 min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731520" y="4160520"/>
            <a:ext cx="22402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velocity, select backlog items, commit to goals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3383280" y="1828800"/>
            <a:ext cx="2606040" cy="4023360"/>
          </a:xfrm>
          <a:prstGeom prst="roundRect">
            <a:avLst>
              <a:gd name="adj" fmla="val 4211"/>
            </a:avLst>
          </a:prstGeom>
          <a:solidFill>
            <a:srgbClr val="C0AC7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4274820" y="2194560"/>
            <a:ext cx="822960" cy="822960"/>
          </a:xfrm>
          <a:prstGeom prst="ellipse">
            <a:avLst/>
          </a:prstGeom>
          <a:solidFill>
            <a:srgbClr val="79171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1" descr="icon_messagecirc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72330" y="2392070"/>
            <a:ext cx="427939" cy="427939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520440" y="3200400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3A2E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Daily Standup</a:t>
            </a:r>
            <a:endParaRPr lang="en-US" dirty="0"/>
          </a:p>
        </p:txBody>
      </p:sp>
      <p:sp>
        <p:nvSpPr>
          <p:cNvPr id="14" name="Text 10"/>
          <p:cNvSpPr/>
          <p:nvPr/>
        </p:nvSpPr>
        <p:spPr>
          <a:xfrm>
            <a:off x="3520440" y="370332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7917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Async, by 10 AM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3566160" y="4160520"/>
            <a:ext cx="22402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400" dirty="0">
                <a:solidFill>
                  <a:srgbClr val="3A2E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in Discord/Slack: yesterday, today, blockers</a:t>
            </a:r>
            <a:endParaRPr lang="en-US" sz="1400" dirty="0"/>
          </a:p>
        </p:txBody>
      </p:sp>
      <p:sp>
        <p:nvSpPr>
          <p:cNvPr id="16" name="Shape 12"/>
          <p:cNvSpPr/>
          <p:nvPr/>
        </p:nvSpPr>
        <p:spPr>
          <a:xfrm>
            <a:off x="6217920" y="1828800"/>
            <a:ext cx="2606040" cy="4023360"/>
          </a:xfrm>
          <a:prstGeom prst="roundRect">
            <a:avLst>
              <a:gd name="adj" fmla="val 4211"/>
            </a:avLst>
          </a:prstGeom>
          <a:solidFill>
            <a:srgbClr val="79171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3"/>
          <p:cNvSpPr/>
          <p:nvPr/>
        </p:nvSpPr>
        <p:spPr>
          <a:xfrm>
            <a:off x="7109460" y="2194560"/>
            <a:ext cx="822960" cy="822960"/>
          </a:xfrm>
          <a:prstGeom prst="ellipse">
            <a:avLst/>
          </a:prstGeom>
          <a:solidFill>
            <a:srgbClr val="C0AC7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8" name="Image 2" descr="icon_checkcircl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06970" y="2392070"/>
            <a:ext cx="427939" cy="427939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355080" y="3200400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Sprint Review</a:t>
            </a:r>
            <a:endParaRPr lang="en-US" dirty="0"/>
          </a:p>
        </p:txBody>
      </p:sp>
      <p:sp>
        <p:nvSpPr>
          <p:cNvPr id="20" name="Text 15"/>
          <p:cNvSpPr/>
          <p:nvPr/>
        </p:nvSpPr>
        <p:spPr>
          <a:xfrm>
            <a:off x="6355080" y="370332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E4D9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· 15 min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6400800" y="4160520"/>
            <a:ext cx="22402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features, gather feedback, discuss what's left</a:t>
            </a:r>
            <a:endParaRPr lang="en-US" sz="1400" dirty="0"/>
          </a:p>
        </p:txBody>
      </p:sp>
      <p:sp>
        <p:nvSpPr>
          <p:cNvPr id="22" name="Shape 17"/>
          <p:cNvSpPr/>
          <p:nvPr/>
        </p:nvSpPr>
        <p:spPr>
          <a:xfrm>
            <a:off x="9052560" y="1828800"/>
            <a:ext cx="2606040" cy="4023360"/>
          </a:xfrm>
          <a:prstGeom prst="roundRect">
            <a:avLst>
              <a:gd name="adj" fmla="val 4211"/>
            </a:avLst>
          </a:prstGeom>
          <a:solidFill>
            <a:srgbClr val="C0AC7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18"/>
          <p:cNvSpPr/>
          <p:nvPr/>
        </p:nvSpPr>
        <p:spPr>
          <a:xfrm>
            <a:off x="9944100" y="2194560"/>
            <a:ext cx="822960" cy="822960"/>
          </a:xfrm>
          <a:prstGeom prst="ellipse">
            <a:avLst/>
          </a:prstGeom>
          <a:solidFill>
            <a:srgbClr val="79171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4" name="Image 3" descr="icon_rotatec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41610" y="2392070"/>
            <a:ext cx="427939" cy="427939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9189720" y="3200400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3A2E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Retrospective</a:t>
            </a:r>
            <a:endParaRPr lang="en-US" dirty="0"/>
          </a:p>
        </p:txBody>
      </p:sp>
      <p:sp>
        <p:nvSpPr>
          <p:cNvPr id="26" name="Text 20"/>
          <p:cNvSpPr/>
          <p:nvPr/>
        </p:nvSpPr>
        <p:spPr>
          <a:xfrm>
            <a:off x="9189720" y="370332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7917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Bi-weekly · 5 min</a:t>
            </a:r>
            <a:endParaRPr lang="en-US" sz="1400" dirty="0"/>
          </a:p>
        </p:txBody>
      </p:sp>
      <p:sp>
        <p:nvSpPr>
          <p:cNvPr id="27" name="Text 21"/>
          <p:cNvSpPr/>
          <p:nvPr/>
        </p:nvSpPr>
        <p:spPr>
          <a:xfrm>
            <a:off x="9235440" y="4160520"/>
            <a:ext cx="22402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400" dirty="0">
                <a:solidFill>
                  <a:srgbClr val="3A2E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went well, what to improve, action items</a:t>
            </a:r>
            <a:endParaRPr lang="en-US" sz="1400" dirty="0"/>
          </a:p>
        </p:txBody>
      </p:sp>
      <p:sp>
        <p:nvSpPr>
          <p:cNvPr id="28" name="Text 22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C8F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Agile Ceremonies</a:t>
            </a:r>
            <a:endParaRPr lang="en-US" sz="1000" dirty="0"/>
          </a:p>
        </p:txBody>
      </p:sp>
      <p:sp>
        <p:nvSpPr>
          <p:cNvPr id="29" name="Text 23"/>
          <p:cNvSpPr/>
          <p:nvPr/>
        </p:nvSpPr>
        <p:spPr>
          <a:xfrm>
            <a:off x="8074152" y="6528816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C8F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 480W/481 · Senior Capstone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7917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C0A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08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Non-Negotiables: Development Practices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394960" cy="4206240"/>
          </a:xfrm>
          <a:prstGeom prst="roundRect">
            <a:avLst>
              <a:gd name="adj" fmla="val 2609"/>
            </a:avLst>
          </a:prstGeom>
          <a:solidFill>
            <a:srgbClr val="540F0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937260" y="2080260"/>
            <a:ext cx="868680" cy="868680"/>
          </a:xfrm>
          <a:prstGeom prst="ellipse">
            <a:avLst/>
          </a:prstGeom>
          <a:solidFill>
            <a:srgbClr val="C0AC7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icon_gitbranc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5743" y="2288743"/>
            <a:ext cx="451714" cy="45171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965960" y="219456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Version Control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68680" y="288036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E4D9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Daily commits — minimum, including doc days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868680" y="3447288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E4D9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Conventional commits: feat:, fix:, docs: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868680" y="4014216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E4D9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Feature-branch workflow with pull requests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868680" y="4581144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E4D9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Main branch is protected — requires review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6217920" y="1828800"/>
            <a:ext cx="5394960" cy="4206240"/>
          </a:xfrm>
          <a:prstGeom prst="roundRect">
            <a:avLst>
              <a:gd name="adj" fmla="val 2609"/>
            </a:avLst>
          </a:prstGeom>
          <a:solidFill>
            <a:srgbClr val="540F0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6606540" y="2080260"/>
            <a:ext cx="868680" cy="868680"/>
          </a:xfrm>
          <a:prstGeom prst="ellipse">
            <a:avLst/>
          </a:prstGeom>
          <a:solidFill>
            <a:srgbClr val="C0AC7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4" name="Image 1" descr="icon_serv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15023" y="2288743"/>
            <a:ext cx="451714" cy="451714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7635240" y="219456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Testing &amp; CI/CD</a:t>
            </a:r>
            <a:endParaRPr lang="en-US" sz="1800" dirty="0"/>
          </a:p>
        </p:txBody>
      </p:sp>
      <p:sp>
        <p:nvSpPr>
          <p:cNvPr id="16" name="Text 12"/>
          <p:cNvSpPr/>
          <p:nvPr/>
        </p:nvSpPr>
        <p:spPr>
          <a:xfrm>
            <a:off x="6537960" y="288036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tests</a:t>
            </a:r>
            <a:endParaRPr lang="en-US" sz="1400" dirty="0"/>
          </a:p>
        </p:txBody>
      </p:sp>
      <p:sp>
        <p:nvSpPr>
          <p:cNvPr id="17" name="Text 13"/>
          <p:cNvSpPr/>
          <p:nvPr/>
        </p:nvSpPr>
        <p:spPr>
          <a:xfrm>
            <a:off x="9006840" y="2880360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E4D9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60% min (Sem. 2)</a:t>
            </a:r>
            <a:endParaRPr lang="en-US" sz="1400" dirty="0"/>
          </a:p>
        </p:txBody>
      </p:sp>
      <p:sp>
        <p:nvSpPr>
          <p:cNvPr id="18" name="Text 14"/>
          <p:cNvSpPr/>
          <p:nvPr/>
        </p:nvSpPr>
        <p:spPr>
          <a:xfrm>
            <a:off x="6537960" y="333756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tests</a:t>
            </a:r>
            <a:endParaRPr lang="en-US" sz="1400" dirty="0"/>
          </a:p>
        </p:txBody>
      </p:sp>
      <p:sp>
        <p:nvSpPr>
          <p:cNvPr id="19" name="Text 15"/>
          <p:cNvSpPr/>
          <p:nvPr/>
        </p:nvSpPr>
        <p:spPr>
          <a:xfrm>
            <a:off x="9006840" y="3337560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E4D9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of API endpoints</a:t>
            </a:r>
            <a:endParaRPr lang="en-US" sz="1400" dirty="0"/>
          </a:p>
        </p:txBody>
      </p:sp>
      <p:sp>
        <p:nvSpPr>
          <p:cNvPr id="20" name="Text 16"/>
          <p:cNvSpPr/>
          <p:nvPr/>
        </p:nvSpPr>
        <p:spPr>
          <a:xfrm>
            <a:off x="6537960" y="379476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tests</a:t>
            </a:r>
            <a:endParaRPr lang="en-US" sz="1400" dirty="0"/>
          </a:p>
        </p:txBody>
      </p:sp>
      <p:sp>
        <p:nvSpPr>
          <p:cNvPr id="21" name="Text 17"/>
          <p:cNvSpPr/>
          <p:nvPr/>
        </p:nvSpPr>
        <p:spPr>
          <a:xfrm>
            <a:off x="9006840" y="3794760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E4D9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user paths</a:t>
            </a:r>
            <a:endParaRPr lang="en-US" sz="1400" dirty="0"/>
          </a:p>
        </p:txBody>
      </p:sp>
      <p:sp>
        <p:nvSpPr>
          <p:cNvPr id="22" name="Text 18"/>
          <p:cNvSpPr/>
          <p:nvPr/>
        </p:nvSpPr>
        <p:spPr>
          <a:xfrm>
            <a:off x="6537960" y="425196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</a:t>
            </a:r>
            <a:endParaRPr lang="en-US" sz="1400" dirty="0"/>
          </a:p>
        </p:txBody>
      </p:sp>
      <p:sp>
        <p:nvSpPr>
          <p:cNvPr id="23" name="Text 19"/>
          <p:cNvSpPr/>
          <p:nvPr/>
        </p:nvSpPr>
        <p:spPr>
          <a:xfrm>
            <a:off x="9006840" y="4251960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E4D9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100ms query response</a:t>
            </a:r>
            <a:endParaRPr lang="en-US" sz="1400" dirty="0"/>
          </a:p>
        </p:txBody>
      </p:sp>
      <p:sp>
        <p:nvSpPr>
          <p:cNvPr id="24" name="Text 20"/>
          <p:cNvSpPr/>
          <p:nvPr/>
        </p:nvSpPr>
        <p:spPr>
          <a:xfrm>
            <a:off x="6537960" y="4846320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i="1" dirty="0">
                <a:solidFill>
                  <a:srgbClr val="E4D9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pipeline required — GitHub Actions, Jenkins, or CircleCI</a:t>
            </a:r>
            <a:endParaRPr lang="en-US" sz="1400" dirty="0"/>
          </a:p>
        </p:txBody>
      </p:sp>
      <p:sp>
        <p:nvSpPr>
          <p:cNvPr id="25" name="Text 21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E4D9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 Standards</a:t>
            </a:r>
            <a:endParaRPr lang="en-US" sz="1000" dirty="0"/>
          </a:p>
        </p:txBody>
      </p:sp>
      <p:sp>
        <p:nvSpPr>
          <p:cNvPr id="26" name="Text 22"/>
          <p:cNvSpPr/>
          <p:nvPr/>
        </p:nvSpPr>
        <p:spPr>
          <a:xfrm>
            <a:off x="8074152" y="6528816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E4D9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 480W/481 · Senior Capstone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C0A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09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7917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You're Graded, Semester by Semester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7917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Semester 1 · CS 480W</a:t>
            </a:r>
            <a:endParaRPr lang="en-US" sz="15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365760" y="1874520"/>
          <a:ext cx="5669280" cy="4480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 3"/>
          <p:cNvSpPr/>
          <p:nvPr/>
        </p:nvSpPr>
        <p:spPr>
          <a:xfrm>
            <a:off x="6309360" y="150876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7917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Semester 2 · CS 481</a:t>
            </a:r>
            <a:endParaRPr lang="en-US" sz="1500" dirty="0"/>
          </a:p>
        </p:txBody>
      </p:sp>
      <p:graphicFrame>
        <p:nvGraphicFramePr>
          <p:cNvPr id="7" name="Chart 1"/>
          <p:cNvGraphicFramePr/>
          <p:nvPr/>
        </p:nvGraphicFramePr>
        <p:xfrm>
          <a:off x="6126480" y="1874520"/>
          <a:ext cx="5669280" cy="4480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8" name="Text 4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C8F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Grading Breakdown</a:t>
            </a:r>
            <a:endParaRPr lang="en-US" sz="1000" dirty="0"/>
          </a:p>
        </p:txBody>
      </p:sp>
      <p:sp>
        <p:nvSpPr>
          <p:cNvPr id="9" name="Text 5"/>
          <p:cNvSpPr/>
          <p:nvPr/>
        </p:nvSpPr>
        <p:spPr>
          <a:xfrm>
            <a:off x="8074152" y="6528816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C8F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 480W/481 · Senior Capstone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4D9B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7917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7917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You're Also a Reviewer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C4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You'll review one classmates' projects across both semesters — same partners throughout, real critical-evaluation practice.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234440" y="2423160"/>
            <a:ext cx="1188720" cy="1188720"/>
          </a:xfrm>
          <a:prstGeom prst="ellipse">
            <a:avLst/>
          </a:prstGeom>
          <a:solidFill>
            <a:srgbClr val="79171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icon_repea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19733" y="2708453"/>
            <a:ext cx="618134" cy="61813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85800" y="3794760"/>
            <a:ext cx="2286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7917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Assigned once,</a:t>
            </a:r>
            <a:endParaRPr lang="en-US" sz="135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7917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consistent all year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3657600" y="1920240"/>
            <a:ext cx="7955280" cy="420624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3977640" y="21031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7917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Review Rubric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3977640" y="2606040"/>
            <a:ext cx="1417320" cy="457200"/>
          </a:xfrm>
          <a:prstGeom prst="roundRect">
            <a:avLst>
              <a:gd name="adj" fmla="val 12000"/>
            </a:avLst>
          </a:prstGeom>
          <a:solidFill>
            <a:srgbClr val="79171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3977640" y="2606040"/>
            <a:ext cx="1417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· 90–100%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5532120" y="2606040"/>
            <a:ext cx="5897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A2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Specific, actionable feedback with code examples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3977640" y="3227832"/>
            <a:ext cx="1417320" cy="457200"/>
          </a:xfrm>
          <a:prstGeom prst="roundRect">
            <a:avLst>
              <a:gd name="adj" fmla="val 12000"/>
            </a:avLst>
          </a:prstGeom>
          <a:solidFill>
            <a:srgbClr val="C0AC7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3977640" y="3227832"/>
            <a:ext cx="1417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3A2E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· 80–89%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5532120" y="3227832"/>
            <a:ext cx="5897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A2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Identifies major issues with useful suggestions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3977640" y="3849624"/>
            <a:ext cx="1417320" cy="457200"/>
          </a:xfrm>
          <a:prstGeom prst="roundRect">
            <a:avLst>
              <a:gd name="adj" fmla="val 12000"/>
            </a:avLst>
          </a:prstGeom>
          <a:solidFill>
            <a:srgbClr val="C0AC7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3977640" y="3849624"/>
            <a:ext cx="1417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3A2E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· 70–79%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5532120" y="3849624"/>
            <a:ext cx="5897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A2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Meets requirements with basic feedback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3977640" y="4471416"/>
            <a:ext cx="1417320" cy="457200"/>
          </a:xfrm>
          <a:prstGeom prst="roundRect">
            <a:avLst>
              <a:gd name="adj" fmla="val 12000"/>
            </a:avLst>
          </a:prstGeom>
          <a:solidFill>
            <a:srgbClr val="C0AC7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3977640" y="4471416"/>
            <a:ext cx="1417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3A2E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 · 60–69%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5532120" y="4471416"/>
            <a:ext cx="5897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A2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Minimal effort, vague feedback</a:t>
            </a:r>
            <a:endParaRPr lang="en-US" sz="1150" dirty="0"/>
          </a:p>
        </p:txBody>
      </p:sp>
      <p:sp>
        <p:nvSpPr>
          <p:cNvPr id="22" name="Shape 19"/>
          <p:cNvSpPr/>
          <p:nvPr/>
        </p:nvSpPr>
        <p:spPr>
          <a:xfrm>
            <a:off x="3977640" y="5093208"/>
            <a:ext cx="1417320" cy="457200"/>
          </a:xfrm>
          <a:prstGeom prst="roundRect">
            <a:avLst>
              <a:gd name="adj" fmla="val 12000"/>
            </a:avLst>
          </a:prstGeom>
          <a:solidFill>
            <a:srgbClr val="C0AC7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3977640" y="5093208"/>
            <a:ext cx="1417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3A2E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 · Below 60%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5532120" y="5093208"/>
            <a:ext cx="5897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A2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or non-constructive</a:t>
            </a:r>
            <a:endParaRPr lang="en-US" sz="1150" dirty="0"/>
          </a:p>
        </p:txBody>
      </p:sp>
      <p:sp>
        <p:nvSpPr>
          <p:cNvPr id="25" name="Text 22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C8F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Peer Review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8074152" y="6528816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C8F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 480W/481 · Senior Capstone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C0A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7917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Policies Worth Knowing Cold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2606040" cy="4023360"/>
          </a:xfrm>
          <a:prstGeom prst="roundRect">
            <a:avLst>
              <a:gd name="adj" fmla="val 4211"/>
            </a:avLst>
          </a:prstGeom>
          <a:solidFill>
            <a:srgbClr val="FBF9F5"/>
          </a:solidFill>
          <a:ln w="12700">
            <a:solidFill>
              <a:srgbClr val="C0AC7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463040" y="2217420"/>
            <a:ext cx="777240" cy="777240"/>
          </a:xfrm>
          <a:prstGeom prst="ellipse">
            <a:avLst/>
          </a:prstGeom>
          <a:solidFill>
            <a:srgbClr val="79171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icon_clo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9578" y="2403958"/>
            <a:ext cx="404165" cy="40416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85800" y="320040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7917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Time Commitment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731520" y="3840480"/>
            <a:ext cx="22402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100" dirty="0">
                <a:solidFill>
                  <a:srgbClr val="2A2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6–9 hrs/week outside class — dev, docs, and project work combined.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383280" y="1828800"/>
            <a:ext cx="2606040" cy="4023360"/>
          </a:xfrm>
          <a:prstGeom prst="roundRect">
            <a:avLst>
              <a:gd name="adj" fmla="val 4211"/>
            </a:avLst>
          </a:prstGeom>
          <a:solidFill>
            <a:srgbClr val="FBF9F5"/>
          </a:solidFill>
          <a:ln w="12700">
            <a:solidFill>
              <a:srgbClr val="C0AC7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4297680" y="2217420"/>
            <a:ext cx="777240" cy="777240"/>
          </a:xfrm>
          <a:prstGeom prst="ellipse">
            <a:avLst/>
          </a:prstGeom>
          <a:solidFill>
            <a:srgbClr val="79171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Image 1" descr="icon_shiel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84218" y="2403958"/>
            <a:ext cx="404165" cy="40416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520440" y="320040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7917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Academic Integrity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3566160" y="3840480"/>
            <a:ext cx="22402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100" dirty="0">
                <a:solidFill>
                  <a:srgbClr val="2A2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code original or attributed. AI tool usage must be documented.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6217920" y="1828800"/>
            <a:ext cx="2606040" cy="4023360"/>
          </a:xfrm>
          <a:prstGeom prst="roundRect">
            <a:avLst>
              <a:gd name="adj" fmla="val 4211"/>
            </a:avLst>
          </a:prstGeom>
          <a:solidFill>
            <a:srgbClr val="FBF9F5"/>
          </a:solidFill>
          <a:ln w="12700">
            <a:solidFill>
              <a:srgbClr val="C0AC7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1"/>
          <p:cNvSpPr/>
          <p:nvPr/>
        </p:nvSpPr>
        <p:spPr>
          <a:xfrm>
            <a:off x="7132320" y="2217420"/>
            <a:ext cx="777240" cy="777240"/>
          </a:xfrm>
          <a:prstGeom prst="ellipse">
            <a:avLst/>
          </a:prstGeom>
          <a:solidFill>
            <a:srgbClr val="79171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6" name="Image 2" descr="icon_calenda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8858" y="2403958"/>
            <a:ext cx="404165" cy="404165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355080" y="320040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7917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Late Work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6400800" y="3840480"/>
            <a:ext cx="22402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100" dirty="0">
                <a:solidFill>
                  <a:srgbClr val="2A2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 cumulative hours free, then 20% penalty per 24 hrs. No credit past 5 days.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9052560" y="1828800"/>
            <a:ext cx="2606040" cy="4023360"/>
          </a:xfrm>
          <a:prstGeom prst="roundRect">
            <a:avLst>
              <a:gd name="adj" fmla="val 4211"/>
            </a:avLst>
          </a:prstGeom>
          <a:solidFill>
            <a:srgbClr val="FBF9F5"/>
          </a:solidFill>
          <a:ln w="12700">
            <a:solidFill>
              <a:srgbClr val="C0AC7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5"/>
          <p:cNvSpPr/>
          <p:nvPr/>
        </p:nvSpPr>
        <p:spPr>
          <a:xfrm>
            <a:off x="9966960" y="2217420"/>
            <a:ext cx="777240" cy="777240"/>
          </a:xfrm>
          <a:prstGeom prst="ellipse">
            <a:avLst/>
          </a:prstGeom>
          <a:solidFill>
            <a:srgbClr val="79171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1" name="Image 3" descr="icon_user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53498" y="2403958"/>
            <a:ext cx="404165" cy="404165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189720" y="320040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7917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Incomplete Grades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9235440" y="3840480"/>
            <a:ext cx="22402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100" dirty="0">
                <a:solidFill>
                  <a:srgbClr val="2A2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Reserved for prolonged illness or family emergency — not falling behind.</a:t>
            </a:r>
            <a:endParaRPr lang="en-US" sz="1100" dirty="0"/>
          </a:p>
        </p:txBody>
      </p:sp>
      <p:sp>
        <p:nvSpPr>
          <p:cNvPr id="24" name="Text 18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C8F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Policies</a:t>
            </a:r>
            <a:endParaRPr lang="en-US" sz="1000" dirty="0"/>
          </a:p>
        </p:txBody>
      </p:sp>
      <p:sp>
        <p:nvSpPr>
          <p:cNvPr id="25" name="Text 19"/>
          <p:cNvSpPr/>
          <p:nvPr/>
        </p:nvSpPr>
        <p:spPr>
          <a:xfrm>
            <a:off x="8074152" y="6528816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C8F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 480W/481 · Senior Capstone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7917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C0A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Actually Predicts Success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5349240" cy="1097280"/>
          </a:xfrm>
          <a:prstGeom prst="roundRect">
            <a:avLst>
              <a:gd name="adj" fmla="val 8333"/>
            </a:avLst>
          </a:prstGeom>
          <a:solidFill>
            <a:srgbClr val="540F0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77240" y="2148840"/>
            <a:ext cx="548640" cy="548640"/>
          </a:xfrm>
          <a:prstGeom prst="ellipse">
            <a:avLst/>
          </a:prstGeom>
          <a:solidFill>
            <a:srgbClr val="C0AC7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77240" y="21488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7917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508760" y="1874520"/>
            <a:ext cx="41605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early and iterate often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172200" y="1874520"/>
            <a:ext cx="5349240" cy="1097280"/>
          </a:xfrm>
          <a:prstGeom prst="roundRect">
            <a:avLst>
              <a:gd name="adj" fmla="val 8333"/>
            </a:avLst>
          </a:prstGeom>
          <a:solidFill>
            <a:srgbClr val="540F0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6400800" y="2148840"/>
            <a:ext cx="548640" cy="548640"/>
          </a:xfrm>
          <a:prstGeom prst="ellipse">
            <a:avLst/>
          </a:prstGeom>
          <a:solidFill>
            <a:srgbClr val="C0AC7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400800" y="21488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7917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132320" y="1874520"/>
            <a:ext cx="41605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 code daily, even small changes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3200400"/>
            <a:ext cx="5349240" cy="1097280"/>
          </a:xfrm>
          <a:prstGeom prst="roundRect">
            <a:avLst>
              <a:gd name="adj" fmla="val 8333"/>
            </a:avLst>
          </a:prstGeom>
          <a:solidFill>
            <a:srgbClr val="540F0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777240" y="3474720"/>
            <a:ext cx="548640" cy="548640"/>
          </a:xfrm>
          <a:prstGeom prst="ellipse">
            <a:avLst/>
          </a:prstGeom>
          <a:solidFill>
            <a:srgbClr val="C0AC7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77240" y="34747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7917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508760" y="3200400"/>
            <a:ext cx="41605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for help when stuck more than 2 hours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172200" y="3200400"/>
            <a:ext cx="5349240" cy="1097280"/>
          </a:xfrm>
          <a:prstGeom prst="roundRect">
            <a:avLst>
              <a:gd name="adj" fmla="val 8333"/>
            </a:avLst>
          </a:prstGeom>
          <a:solidFill>
            <a:srgbClr val="540F0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400800" y="3474720"/>
            <a:ext cx="548640" cy="548640"/>
          </a:xfrm>
          <a:prstGeom prst="ellipse">
            <a:avLst/>
          </a:prstGeom>
          <a:solidFill>
            <a:srgbClr val="C0AC7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400800" y="34747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7917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7132320" y="3200400"/>
            <a:ext cx="41605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 every weekly meeting prepared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48640" y="4526280"/>
            <a:ext cx="5349240" cy="1097280"/>
          </a:xfrm>
          <a:prstGeom prst="roundRect">
            <a:avLst>
              <a:gd name="adj" fmla="val 8333"/>
            </a:avLst>
          </a:prstGeom>
          <a:solidFill>
            <a:srgbClr val="540F0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777240" y="4800600"/>
            <a:ext cx="548640" cy="548640"/>
          </a:xfrm>
          <a:prstGeom prst="ellipse">
            <a:avLst/>
          </a:prstGeom>
          <a:solidFill>
            <a:srgbClr val="C0AC7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777240" y="48006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7917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508760" y="4526280"/>
            <a:ext cx="41605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 meaningfully in peer reviews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6172200" y="4526280"/>
            <a:ext cx="5349240" cy="1097280"/>
          </a:xfrm>
          <a:prstGeom prst="roundRect">
            <a:avLst>
              <a:gd name="adj" fmla="val 8333"/>
            </a:avLst>
          </a:prstGeom>
          <a:solidFill>
            <a:srgbClr val="540F0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6400800" y="4800600"/>
            <a:ext cx="548640" cy="548640"/>
          </a:xfrm>
          <a:prstGeom prst="ellipse">
            <a:avLst/>
          </a:prstGeom>
          <a:solidFill>
            <a:srgbClr val="C0AC7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6400800" y="48006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7917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7132320" y="4526280"/>
            <a:ext cx="41605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as you go, not at the end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E4D9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Tips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8074152" y="6528816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E4D9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 480W/481 · Senior Capstone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7917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3657600"/>
            <a:ext cx="5486400" cy="5486400"/>
          </a:xfrm>
          <a:prstGeom prst="ellipse">
            <a:avLst/>
          </a:prstGeom>
          <a:solidFill>
            <a:srgbClr val="540F0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9601200" y="-1828800"/>
            <a:ext cx="4572000" cy="4572000"/>
          </a:xfrm>
          <a:prstGeom prst="ellipse">
            <a:avLst/>
          </a:prstGeom>
          <a:ln w="25400">
            <a:solidFill>
              <a:srgbClr val="C0AC7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C0A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Before Next Friday…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845820" y="1851660"/>
            <a:ext cx="777240" cy="777240"/>
          </a:xfrm>
          <a:prstGeom prst="ellipse">
            <a:avLst/>
          </a:prstGeom>
          <a:solidFill>
            <a:srgbClr val="C0AC7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0" descr="icon_clipbo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2358" y="2038198"/>
            <a:ext cx="404165" cy="40416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783080" y="1892808"/>
            <a:ext cx="8961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 the full syllabus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783080" y="2258568"/>
            <a:ext cx="8961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4D9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policies, grading, and the complete milestone schedule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845820" y="2903220"/>
            <a:ext cx="777240" cy="777240"/>
          </a:xfrm>
          <a:prstGeom prst="ellipse">
            <a:avLst/>
          </a:prstGeom>
          <a:solidFill>
            <a:srgbClr val="C0AC7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Image 1" descr="icon_calenda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2358" y="3089758"/>
            <a:ext cx="404165" cy="40416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783080" y="2944368"/>
            <a:ext cx="8961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Book your first Sprint Review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1783080" y="3310128"/>
            <a:ext cx="8961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4D9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Reserve a weekly 15-minute slot on Google Calendar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845820" y="3954780"/>
            <a:ext cx="777240" cy="777240"/>
          </a:xfrm>
          <a:prstGeom prst="ellipse">
            <a:avLst/>
          </a:prstGeom>
          <a:solidFill>
            <a:srgbClr val="C0AC7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5" name="Image 2" descr="icon_cpu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2358" y="4141318"/>
            <a:ext cx="404165" cy="404165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783080" y="3995928"/>
            <a:ext cx="8961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Set up your dev environment</a:t>
            </a:r>
            <a:endParaRPr lang="en-US" sz="1600" dirty="0"/>
          </a:p>
        </p:txBody>
      </p:sp>
      <p:sp>
        <p:nvSpPr>
          <p:cNvPr id="17" name="Text 12"/>
          <p:cNvSpPr/>
          <p:nvPr/>
        </p:nvSpPr>
        <p:spPr>
          <a:xfrm>
            <a:off x="1783080" y="4361688"/>
            <a:ext cx="8961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4D9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2.0+, and Docker 20.0+ recommended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845820" y="5006340"/>
            <a:ext cx="777240" cy="777240"/>
          </a:xfrm>
          <a:prstGeom prst="ellipse">
            <a:avLst/>
          </a:prstGeom>
          <a:solidFill>
            <a:srgbClr val="C0AC7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9" name="Image 3" descr="icon_edi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2358" y="5192878"/>
            <a:ext cx="404165" cy="404165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783080" y="5047488"/>
            <a:ext cx="8961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Draft three project ideas</a:t>
            </a:r>
            <a:endParaRPr lang="en-US" sz="1600" dirty="0"/>
          </a:p>
        </p:txBody>
      </p:sp>
      <p:sp>
        <p:nvSpPr>
          <p:cNvPr id="21" name="Text 15"/>
          <p:cNvSpPr/>
          <p:nvPr/>
        </p:nvSpPr>
        <p:spPr>
          <a:xfrm>
            <a:off x="1783080" y="5413248"/>
            <a:ext cx="8961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4D9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page each — due Week 1, the spark for everything ahead</a:t>
            </a:r>
            <a:endParaRPr lang="en-US" sz="1200" dirty="0"/>
          </a:p>
        </p:txBody>
      </p:sp>
      <p:sp>
        <p:nvSpPr>
          <p:cNvPr id="22" name="Text 16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E4D9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Let's Build Something</a:t>
            </a:r>
            <a:endParaRPr lang="en-US" sz="1000" dirty="0"/>
          </a:p>
        </p:txBody>
      </p:sp>
      <p:sp>
        <p:nvSpPr>
          <p:cNvPr id="23" name="Text 17"/>
          <p:cNvSpPr/>
          <p:nvPr/>
        </p:nvSpPr>
        <p:spPr>
          <a:xfrm>
            <a:off x="8074152" y="6528816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E4D9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 480W/481 · Senior Capstone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299</TotalTime>
  <Words>1107</Words>
  <Application>Microsoft Macintosh PowerPoint</Application>
  <PresentationFormat>Widescreen</PresentationFormat>
  <Paragraphs>231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Fred Agbo</cp:lastModifiedBy>
  <cp:revision>2</cp:revision>
  <dcterms:created xsi:type="dcterms:W3CDTF">2026-08-25T21:05:52Z</dcterms:created>
  <dcterms:modified xsi:type="dcterms:W3CDTF">2026-08-28T20:36:18Z</dcterms:modified>
</cp:coreProperties>
</file>