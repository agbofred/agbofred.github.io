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7917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Proposal</c:v>
                  </c:pt>
                  <c:pt idx="1">
                    <c:v>Design Docs</c:v>
                  </c:pt>
                  <c:pt idx="2">
                    <c:v>Weekly Prog.</c:v>
                  </c:pt>
                  <c:pt idx="3">
                    <c:v>Mid-Sem.</c:v>
                  </c:pt>
                  <c:pt idx="4">
                    <c:v>Prototype</c:v>
                  </c:pt>
                  <c:pt idx="5">
                    <c:v>Final Pres.</c:v>
                  </c:pt>
                  <c:pt idx="6">
                    <c:v>Peer Rev.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</c:v>
                </c:pt>
                <c:pt idx="1">
                  <c:v>15</c:v>
                </c:pt>
                <c:pt idx="2">
                  <c:v>20</c:v>
                </c:pt>
                <c:pt idx="3">
                  <c:v>10</c:v>
                </c:pt>
                <c:pt idx="4">
                  <c:v>25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A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A232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C0A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Features</c:v>
                  </c:pt>
                  <c:pt idx="1">
                    <c:v>Testing</c:v>
                  </c:pt>
                  <c:pt idx="2">
                    <c:v>Deploy</c:v>
                  </c:pt>
                  <c:pt idx="3">
                    <c:v>Docs</c:v>
                  </c:pt>
                  <c:pt idx="4">
                    <c:v>Weekly Prog.</c:v>
                  </c:pt>
                  <c:pt idx="5">
                    <c:v>Final Pres.</c:v>
                  </c:pt>
                  <c:pt idx="6">
                    <c:v>Peer Rev.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A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A232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image" Target="../media/image-6-7.png"/><Relationship Id="rId8" Type="http://schemas.openxmlformats.org/officeDocument/2006/relationships/image" Target="../media/image-6-2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917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931920"/>
            <a:ext cx="5943600" cy="5943600"/>
          </a:xfrm>
          <a:prstGeom prst="ellipse">
            <a:avLst/>
          </a:prstGeom>
          <a:solidFill>
            <a:srgbClr val="540F0F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-2194560"/>
            <a:ext cx="4114800" cy="4114800"/>
          </a:xfrm>
          <a:prstGeom prst="ellipse">
            <a:avLst/>
          </a:prstGeom>
          <a:ln w="28575">
            <a:solidFill>
              <a:srgbClr val="C0A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371600" y="-1554480"/>
            <a:ext cx="2834640" cy="2834640"/>
          </a:xfrm>
          <a:prstGeom prst="ellipse">
            <a:avLst/>
          </a:prstGeom>
          <a:ln w="15875">
            <a:solidFill>
              <a:srgbClr val="C0AC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A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SESSION · FALL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8778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Capstone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 / CS 481  —  From Concept to Deployment in Two Semesters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434840"/>
            <a:ext cx="2011680" cy="0"/>
          </a:xfrm>
          <a:prstGeom prst="line">
            <a:avLst/>
          </a:prstGeom>
          <a:noFill/>
          <a:ln w="25400">
            <a:solidFill>
              <a:srgbClr val="C0AC7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70916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Fred Agbo, PhD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Professor of Computer Science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 Hall 209 · fjagbo@willamette.edu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Willamette University · Department of Computer Science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79171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3566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</a:t>
            </a:r>
            <a:endParaRPr lang="en-US" sz="32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Capstone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3520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culmination of everything you've learned — where you design, build, and ship something real.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828800" y="5212080"/>
            <a:ext cx="914400" cy="914400"/>
          </a:xfrm>
          <a:prstGeom prst="ellipse">
            <a:avLst/>
          </a:prstGeom>
          <a:solidFill>
            <a:srgbClr val="540F0F"/>
          </a:solidFill>
          <a:ln/>
        </p:spPr>
      </p:sp>
      <p:pic>
        <p:nvPicPr>
          <p:cNvPr id="7" name="Image 0" descr="icon_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8256" y="5431536"/>
            <a:ext cx="475488" cy="4754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709160" y="713232"/>
            <a:ext cx="384048" cy="384048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9" name="Text 6"/>
          <p:cNvSpPr/>
          <p:nvPr/>
        </p:nvSpPr>
        <p:spPr>
          <a:xfrm>
            <a:off x="4709160" y="7132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257800" y="658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full semesters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5257800" y="1014984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2026 (CS 480W) through Spring 2027 (CS 481) — 8 credits, one continuous project.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09160" y="2039112"/>
            <a:ext cx="384048" cy="384048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13" name="Text 10"/>
          <p:cNvSpPr/>
          <p:nvPr/>
        </p:nvSpPr>
        <p:spPr>
          <a:xfrm>
            <a:off x="4709160" y="2039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257800" y="198424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project, start to finish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5257800" y="2340864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it, scope it, architect it, build it, test it, and deploy it.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709160" y="3364992"/>
            <a:ext cx="384048" cy="384048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17" name="Text 14"/>
          <p:cNvSpPr/>
          <p:nvPr/>
        </p:nvSpPr>
        <p:spPr>
          <a:xfrm>
            <a:off x="4709160" y="3364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257800" y="33101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Industry-standard practice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5257800" y="3666744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SDLC methodology: agile sprints, code review, CI/CD, and documentation — the way professional teams work.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09160" y="4690872"/>
            <a:ext cx="384048" cy="384048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21" name="Text 18"/>
          <p:cNvSpPr/>
          <p:nvPr/>
        </p:nvSpPr>
        <p:spPr>
          <a:xfrm>
            <a:off x="4709160" y="4690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257800" y="463600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portfolio piece that speaks for you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5257800" y="4992624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can demo in an interview, not just describe on a resume.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Your Instructor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2377440" cy="2377440"/>
          </a:xfrm>
          <a:prstGeom prst="ellipse">
            <a:avLst/>
          </a:prstGeom>
          <a:solidFill>
            <a:srgbClr val="E4D9BE"/>
          </a:solidFill>
          <a:ln w="38100">
            <a:solidFill>
              <a:srgbClr val="C0AC7E"/>
            </a:solidFill>
            <a:prstDash val="solid"/>
          </a:ln>
        </p:spPr>
      </p:sp>
      <p:pic>
        <p:nvPicPr>
          <p:cNvPr id="5" name="Image 0" descr="icon_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46888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0" y="1920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Professor Fred Agbo, PhD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3657600" y="239572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Professor of Computer Science</a:t>
            </a:r>
            <a:endParaRPr lang="en-US" sz="1400" dirty="0"/>
          </a:p>
        </p:txBody>
      </p:sp>
      <p:pic>
        <p:nvPicPr>
          <p:cNvPr id="8" name="Image 1" descr="icon_mappin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306324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14800" y="30175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 Hall 209 · Salem</a:t>
            </a:r>
            <a:endParaRPr lang="en-US" sz="1300" dirty="0"/>
          </a:p>
        </p:txBody>
      </p:sp>
      <p:pic>
        <p:nvPicPr>
          <p:cNvPr id="10" name="Image 2" descr="icon_mail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566160"/>
            <a:ext cx="292608" cy="29260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114800" y="352044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fjagbo@willamette.edu</a:t>
            </a:r>
            <a:endParaRPr lang="en-US" sz="1300" dirty="0"/>
          </a:p>
        </p:txBody>
      </p:sp>
      <p:pic>
        <p:nvPicPr>
          <p:cNvPr id="12" name="Image 3" descr="icon_calendar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4069080"/>
            <a:ext cx="292608" cy="2926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114800" y="402336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hours: 15-min appointments or drop-in — in person, phone, or Google Meet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4892040"/>
            <a:ext cx="11064240" cy="1234440"/>
          </a:xfrm>
          <a:prstGeom prst="rect">
            <a:avLst>
              <a:gd name="adj" fmla="val 7407"/>
            </a:avLst>
          </a:prstGeom>
          <a:solidFill>
            <a:srgbClr val="E4D9BE"/>
          </a:solidFill>
          <a:ln/>
        </p:spPr>
      </p:sp>
      <p:sp>
        <p:nvSpPr>
          <p:cNvPr id="15" name="Text 9"/>
          <p:cNvSpPr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of me as your Product Owner.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868680" y="53949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set direction, review your sprints weekly, and push your project toward something you're proud to ship — but the roadmap, the decisions, and the code are yours.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7917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End, You Will Have…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84832" cy="3840480"/>
          </a:xfrm>
          <a:prstGeom prst="roundRect">
            <a:avLst>
              <a:gd name="adj" fmla="val 5263"/>
            </a:avLst>
          </a:prstGeom>
          <a:solidFill>
            <a:srgbClr val="540F0F"/>
          </a:solidFill>
          <a:ln/>
        </p:spPr>
      </p:sp>
      <p:sp>
        <p:nvSpPr>
          <p:cNvPr id="5" name="Shape 3"/>
          <p:cNvSpPr/>
          <p:nvPr/>
        </p:nvSpPr>
        <p:spPr>
          <a:xfrm>
            <a:off x="1156716" y="2171700"/>
            <a:ext cx="868680" cy="86868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6" name="Image 0" descr="icon_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199" y="23801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24612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application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4160520"/>
            <a:ext cx="1810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Full-stack, concept through deployment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34640" y="1828800"/>
            <a:ext cx="2084832" cy="3840480"/>
          </a:xfrm>
          <a:prstGeom prst="roundRect">
            <a:avLst>
              <a:gd name="adj" fmla="val 5263"/>
            </a:avLst>
          </a:prstGeom>
          <a:solidFill>
            <a:srgbClr val="540F0F"/>
          </a:solidFill>
          <a:ln/>
        </p:spPr>
      </p:sp>
      <p:sp>
        <p:nvSpPr>
          <p:cNvPr id="10" name="Shape 7"/>
          <p:cNvSpPr/>
          <p:nvPr/>
        </p:nvSpPr>
        <p:spPr>
          <a:xfrm>
            <a:off x="3442716" y="2171700"/>
            <a:ext cx="868680" cy="86868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1" name="Image 1" descr="icon_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199" y="238018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71800" y="324612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dev practices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971800" y="4160520"/>
            <a:ext cx="1810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proficiency across the SDLC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120640" y="1828800"/>
            <a:ext cx="2084832" cy="3840480"/>
          </a:xfrm>
          <a:prstGeom prst="roundRect">
            <a:avLst>
              <a:gd name="adj" fmla="val 5263"/>
            </a:avLst>
          </a:prstGeom>
          <a:solidFill>
            <a:srgbClr val="540F0F"/>
          </a:solidFill>
          <a:ln/>
        </p:spPr>
      </p:sp>
      <p:sp>
        <p:nvSpPr>
          <p:cNvPr id="15" name="Shape 11"/>
          <p:cNvSpPr/>
          <p:nvPr/>
        </p:nvSpPr>
        <p:spPr>
          <a:xfrm>
            <a:off x="5728716" y="2171700"/>
            <a:ext cx="868680" cy="86868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6" name="Image 2" descr="icon_booko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199" y="238018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57800" y="324612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documentation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257800" y="4160520"/>
            <a:ext cx="1810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docs that outlast the course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406640" y="1828800"/>
            <a:ext cx="2084832" cy="3840480"/>
          </a:xfrm>
          <a:prstGeom prst="roundRect">
            <a:avLst>
              <a:gd name="adj" fmla="val 5263"/>
            </a:avLst>
          </a:prstGeom>
          <a:solidFill>
            <a:srgbClr val="540F0F"/>
          </a:solidFill>
          <a:ln/>
        </p:spPr>
      </p:sp>
      <p:sp>
        <p:nvSpPr>
          <p:cNvPr id="20" name="Shape 15"/>
          <p:cNvSpPr/>
          <p:nvPr/>
        </p:nvSpPr>
        <p:spPr>
          <a:xfrm>
            <a:off x="8014716" y="2171700"/>
            <a:ext cx="868680" cy="86868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21" name="Image 3" descr="icon_message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3199" y="2380183"/>
            <a:ext cx="451714" cy="45171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324612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skill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543800" y="4160520"/>
            <a:ext cx="1810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technical and general audiences alike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9692640" y="1828800"/>
            <a:ext cx="2084832" cy="3840480"/>
          </a:xfrm>
          <a:prstGeom prst="roundRect">
            <a:avLst>
              <a:gd name="adj" fmla="val 5263"/>
            </a:avLst>
          </a:prstGeom>
          <a:solidFill>
            <a:srgbClr val="540F0F"/>
          </a:solidFill>
          <a:ln/>
        </p:spPr>
      </p:sp>
      <p:sp>
        <p:nvSpPr>
          <p:cNvPr id="25" name="Shape 19"/>
          <p:cNvSpPr/>
          <p:nvPr/>
        </p:nvSpPr>
        <p:spPr>
          <a:xfrm>
            <a:off x="10300716" y="2171700"/>
            <a:ext cx="868680" cy="86868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26" name="Image 4" descr="icon_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9199" y="2380183"/>
            <a:ext cx="451714" cy="45171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829800" y="324612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portfolio piece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9829800" y="4160520"/>
            <a:ext cx="1810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what you can actually build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Goals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Journey Ahead — Two Semesters, One Project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79171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A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1 · CS 480W · FALL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A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1–4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Initiation &amp;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3376879" y="2331720"/>
            <a:ext cx="0" cy="1234440"/>
          </a:xfrm>
          <a:prstGeom prst="line">
            <a:avLst/>
          </a:prstGeom>
          <a:noFill/>
          <a:ln w="12700">
            <a:solidFill>
              <a:srgbClr val="C0AC7E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429000" y="22860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A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5–8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0" y="26517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&amp;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982919" y="2331720"/>
            <a:ext cx="0" cy="1234440"/>
          </a:xfrm>
          <a:prstGeom prst="line">
            <a:avLst/>
          </a:prstGeom>
          <a:noFill/>
          <a:ln w="12700">
            <a:solidFill>
              <a:srgbClr val="C0AC7E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035040" y="22860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A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9–14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035040" y="26517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588959" y="2331720"/>
            <a:ext cx="0" cy="1234440"/>
          </a:xfrm>
          <a:prstGeom prst="line">
            <a:avLst/>
          </a:prstGeom>
          <a:noFill/>
          <a:ln w="12700">
            <a:solidFill>
              <a:srgbClr val="C0AC7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641080" y="22860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A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15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41080" y="26517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Wrap-Up &amp;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Demo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C0AC7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160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2 · CS 481 · SPRING 2027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1–6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983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3376879" y="4663440"/>
            <a:ext cx="0" cy="1234440"/>
          </a:xfrm>
          <a:prstGeom prst="line">
            <a:avLst/>
          </a:prstGeom>
          <a:noFill/>
          <a:ln w="12700">
            <a:solidFill>
              <a:srgbClr val="79171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42900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429000" y="4983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Assurance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5982919" y="4663440"/>
            <a:ext cx="0" cy="1234440"/>
          </a:xfrm>
          <a:prstGeom prst="line">
            <a:avLst/>
          </a:prstGeom>
          <a:noFill/>
          <a:ln w="12700">
            <a:solidFill>
              <a:srgbClr val="79171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603504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11–13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035040" y="4983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&amp;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8588959" y="4663440"/>
            <a:ext cx="0" cy="1234440"/>
          </a:xfrm>
          <a:prstGeom prst="line">
            <a:avLst/>
          </a:prstGeom>
          <a:noFill/>
          <a:ln w="12700">
            <a:solidFill>
              <a:srgbClr val="79171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864108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14–15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41080" y="4983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Showcase &amp;</a:t>
            </a:r>
            <a:endParaRPr lang="en-US" sz="15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roadmap and weekly deliverables are in the syllabus — this is your flight path for the year.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Weekly Rhythm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 runs on the same cycle — consistency is what makes agile work.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084832" cy="3566160"/>
          </a:xfrm>
          <a:prstGeom prst="roundRect">
            <a:avLst>
              <a:gd name="adj" fmla="val 5263"/>
            </a:avLst>
          </a:prstGeom>
          <a:solidFill>
            <a:srgbClr val="E4D9BE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02436" y="235458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7" name="Image 0" descr="icon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8974" y="254111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91840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8A6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8368" y="361188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38912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week's backlog</a:t>
            </a:r>
            <a:endParaRPr lang="en-US" sz="1050" dirty="0"/>
          </a:p>
        </p:txBody>
      </p:sp>
      <p:pic>
        <p:nvPicPr>
          <p:cNvPr id="11" name="Image 1" descr="icon_arrowright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3657600"/>
            <a:ext cx="182880" cy="1828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834640" y="2057400"/>
            <a:ext cx="2084832" cy="3566160"/>
          </a:xfrm>
          <a:prstGeom prst="roundRect">
            <a:avLst>
              <a:gd name="adj" fmla="val 5263"/>
            </a:avLst>
          </a:prstGeom>
          <a:solidFill>
            <a:srgbClr val="FBF9F5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88436" y="235458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14" name="Image 2" descr="icon_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4974" y="2541118"/>
            <a:ext cx="404165" cy="40416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926080" y="3291840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8A6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TUE–THU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2944368" y="361188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Work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2944368" y="438912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commits, real progress</a:t>
            </a:r>
            <a:endParaRPr lang="en-US" sz="1050" dirty="0"/>
          </a:p>
        </p:txBody>
      </p:sp>
      <p:pic>
        <p:nvPicPr>
          <p:cNvPr id="18" name="Image 3" descr="icon_arrowright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657600"/>
            <a:ext cx="182880" cy="1828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120640" y="2057400"/>
            <a:ext cx="2084832" cy="3566160"/>
          </a:xfrm>
          <a:prstGeom prst="roundRect">
            <a:avLst>
              <a:gd name="adj" fmla="val 5263"/>
            </a:avLst>
          </a:prstGeom>
          <a:solidFill>
            <a:srgbClr val="E4D9BE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774436" y="235458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21" name="Image 4" descr="icon_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974" y="2541118"/>
            <a:ext cx="404165" cy="4041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12080" y="3291840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8A6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050" dirty="0"/>
          </a:p>
        </p:txBody>
      </p:sp>
      <p:sp>
        <p:nvSpPr>
          <p:cNvPr id="23" name="Text 16"/>
          <p:cNvSpPr/>
          <p:nvPr/>
        </p:nvSpPr>
        <p:spPr>
          <a:xfrm>
            <a:off x="5230368" y="361188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 Testing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230368" y="438912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+ group session</a:t>
            </a:r>
            <a:endParaRPr lang="en-US" sz="1050" dirty="0"/>
          </a:p>
        </p:txBody>
      </p:sp>
      <p:pic>
        <p:nvPicPr>
          <p:cNvPr id="25" name="Image 5" descr="icon_arrowright_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4616" y="3657600"/>
            <a:ext cx="182880" cy="1828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406640" y="2057400"/>
            <a:ext cx="2084832" cy="3566160"/>
          </a:xfrm>
          <a:prstGeom prst="roundRect">
            <a:avLst>
              <a:gd name="adj" fmla="val 5263"/>
            </a:avLst>
          </a:prstGeom>
          <a:solidFill>
            <a:srgbClr val="FBF9F5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8060436" y="235458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28" name="Image 6" descr="icon_edi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6974" y="2541118"/>
            <a:ext cx="404165" cy="404165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498080" y="3291840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8A6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</a:t>
            </a:r>
            <a:endParaRPr lang="en-US" sz="1050" dirty="0"/>
          </a:p>
        </p:txBody>
      </p:sp>
      <p:sp>
        <p:nvSpPr>
          <p:cNvPr id="30" name="Text 21"/>
          <p:cNvSpPr/>
          <p:nvPr/>
        </p:nvSpPr>
        <p:spPr>
          <a:xfrm>
            <a:off x="7516368" y="361188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 &amp; Reflection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7516368" y="438912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down while it's fresh</a:t>
            </a:r>
            <a:endParaRPr lang="en-US" sz="1050" dirty="0"/>
          </a:p>
        </p:txBody>
      </p:sp>
      <p:pic>
        <p:nvPicPr>
          <p:cNvPr id="32" name="Image 7" descr="icon_arrowright_dar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0616" y="3657600"/>
            <a:ext cx="182880" cy="18288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692640" y="2057400"/>
            <a:ext cx="2084832" cy="3566160"/>
          </a:xfrm>
          <a:prstGeom prst="roundRect">
            <a:avLst>
              <a:gd name="adj" fmla="val 5263"/>
            </a:avLst>
          </a:prstGeom>
          <a:solidFill>
            <a:srgbClr val="E4D9BE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10346436" y="235458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35" name="Image 8" descr="icon_messagecirc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2974" y="2541118"/>
            <a:ext cx="404165" cy="404165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9784080" y="3291840"/>
            <a:ext cx="1901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8A6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MTG.</a:t>
            </a:r>
            <a:endParaRPr lang="en-US" sz="1050" dirty="0"/>
          </a:p>
        </p:txBody>
      </p:sp>
      <p:sp>
        <p:nvSpPr>
          <p:cNvPr id="37" name="Text 26"/>
          <p:cNvSpPr/>
          <p:nvPr/>
        </p:nvSpPr>
        <p:spPr>
          <a:xfrm>
            <a:off x="9802368" y="3611880"/>
            <a:ext cx="18653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Review</a:t>
            </a:r>
            <a:endParaRPr lang="en-US" sz="1400" dirty="0"/>
          </a:p>
        </p:txBody>
      </p:sp>
      <p:sp>
        <p:nvSpPr>
          <p:cNvPr id="38" name="Text 27"/>
          <p:cNvSpPr/>
          <p:nvPr/>
        </p:nvSpPr>
        <p:spPr>
          <a:xfrm>
            <a:off x="9802368" y="438912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 your instructor</a:t>
            </a:r>
            <a:endParaRPr lang="en-US" sz="1050" dirty="0"/>
          </a:p>
        </p:txBody>
      </p:sp>
      <p:sp>
        <p:nvSpPr>
          <p:cNvPr id="39" name="Text 2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Rhythm</a:t>
            </a:r>
            <a:endParaRPr lang="en-US" sz="1000" dirty="0"/>
          </a:p>
        </p:txBody>
      </p:sp>
      <p:sp>
        <p:nvSpPr>
          <p:cNvPr id="40" name="Text 29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Meetings, Every Single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C0AC7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57400"/>
            <a:ext cx="914400" cy="91440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6" name="Image 0" descr="icon_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2148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Review Session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057400" y="2514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Friday · 10:30–11:00 AM · Ford Hall 209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68680" y="3246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Attendance expected from everyone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Review the week's milestones together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68680" y="4160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Peer collaboration &amp; shared problem-solving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17830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791716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75120" y="2057400"/>
            <a:ext cx="914400" cy="91440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4" name="Image 1" descr="icon_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76" y="2276856"/>
            <a:ext cx="475488" cy="4754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2148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Sprint Review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7772400" y="2514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minutes, weekly · You book it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537960" y="3246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You reserve your own slot each week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37960" y="3703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Demo your progress 1-on-1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537960" y="4160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Personalized feedback on blockers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537960" y="4709160"/>
            <a:ext cx="4754880" cy="868680"/>
          </a:xfrm>
          <a:prstGeom prst="roundRect">
            <a:avLst>
              <a:gd name="adj" fmla="val 8421"/>
            </a:avLst>
          </a:prstGeom>
          <a:solidFill>
            <a:srgbClr val="C0AC7E"/>
          </a:solidFill>
          <a:ln/>
        </p:spPr>
      </p:sp>
      <p:sp>
        <p:nvSpPr>
          <p:cNvPr id="21" name="Text 17"/>
          <p:cNvSpPr/>
          <p:nvPr/>
        </p:nvSpPr>
        <p:spPr>
          <a:xfrm>
            <a:off x="6675120" y="4709160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Book Your Sprint Review — link on course site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Expectations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Run Sprints: Agile Ceremonies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791716"/>
          </a:solidFill>
          <a:ln/>
        </p:spPr>
      </p:sp>
      <p:sp>
        <p:nvSpPr>
          <p:cNvPr id="5" name="Shape 3"/>
          <p:cNvSpPr/>
          <p:nvPr/>
        </p:nvSpPr>
        <p:spPr>
          <a:xfrm>
            <a:off x="1440180" y="2194560"/>
            <a:ext cx="822960" cy="82296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6" name="Image 0" descr="icon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7690" y="239207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200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3703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10 min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41605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velocity, select backlog items, commit to goals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C0AC7E"/>
          </a:solidFill>
          <a:ln/>
        </p:spPr>
      </p:sp>
      <p:sp>
        <p:nvSpPr>
          <p:cNvPr id="11" name="Shape 8"/>
          <p:cNvSpPr/>
          <p:nvPr/>
        </p:nvSpPr>
        <p:spPr>
          <a:xfrm>
            <a:off x="4274820" y="2194560"/>
            <a:ext cx="822960" cy="82296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12" name="Image 1" descr="icon_message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330" y="239207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3200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Standup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20440" y="3703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by 10 AM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566160" y="41605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A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in Discord/Slack: yesterday, today, blockers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791716"/>
          </a:solidFill>
          <a:ln/>
        </p:spPr>
      </p:sp>
      <p:sp>
        <p:nvSpPr>
          <p:cNvPr id="17" name="Shape 13"/>
          <p:cNvSpPr/>
          <p:nvPr/>
        </p:nvSpPr>
        <p:spPr>
          <a:xfrm>
            <a:off x="7109460" y="2194560"/>
            <a:ext cx="822960" cy="82296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8" name="Image 2" descr="icon_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970" y="239207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5080" y="3200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Review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355080" y="3703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15 min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400800" y="41605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features, gather feedback, discuss what's left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05256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C0AC7E"/>
          </a:solidFill>
          <a:ln/>
        </p:spPr>
      </p:sp>
      <p:sp>
        <p:nvSpPr>
          <p:cNvPr id="23" name="Shape 18"/>
          <p:cNvSpPr/>
          <p:nvPr/>
        </p:nvSpPr>
        <p:spPr>
          <a:xfrm>
            <a:off x="9944100" y="2194560"/>
            <a:ext cx="822960" cy="82296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24" name="Image 3" descr="icon_rotatec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1610" y="2392070"/>
            <a:ext cx="427939" cy="42793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89720" y="3200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E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9189720" y="3703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917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Bi-weekly · 5 min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235440" y="41605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A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well, what to improve, action items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Ceremonies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917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Non-Negotiables: Development Practices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540F0F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" y="2080260"/>
            <a:ext cx="868680" cy="86868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6" name="Image 0" descr="icon_gitbra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743" y="228874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1945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Control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Daily commits — minimum, including doc days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8680" y="34472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Conventional commits: feat:, fix:, docs: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40142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Feature-branch workflow with pull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68680" y="458114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Main branch is protected — requires review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540F0F"/>
          </a:solidFill>
          <a:ln/>
        </p:spPr>
      </p:sp>
      <p:sp>
        <p:nvSpPr>
          <p:cNvPr id="13" name="Shape 10"/>
          <p:cNvSpPr/>
          <p:nvPr/>
        </p:nvSpPr>
        <p:spPr>
          <a:xfrm>
            <a:off x="6606540" y="2080260"/>
            <a:ext cx="868680" cy="86868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4" name="Image 1" descr="icon_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023" y="2288743"/>
            <a:ext cx="451714" cy="45171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635240" y="21945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CI/CD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53796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006840" y="28803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min (Sem. 2)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3337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9006840" y="33375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API endpoints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537960" y="37947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9006840" y="37947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user paths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537960" y="4251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9006840" y="4251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100ms query response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537960" y="48463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required — GitHub Actions, Jenkins, or CircleCI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Standards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You're Graded, Semester by Semester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1 · CS 480W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87452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2 · CS 481</a:t>
            </a:r>
            <a:endParaRPr lang="en-US" sz="15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126480" y="187452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Breakdown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4D9B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You're Also a Reviewer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review two classmates' projects across both semesters — same partners throughout, real critical-evaluation practice.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34440" y="2423160"/>
            <a:ext cx="1188720" cy="118872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6" name="Image 0" descr="icon_rep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9733" y="2708453"/>
            <a:ext cx="618134" cy="6181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7947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Assigned once,</a:t>
            </a:r>
            <a:endParaRPr lang="en-US" sz="13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all year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657600" y="1920240"/>
            <a:ext cx="79552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3977640" y="2103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Rubric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977640" y="26060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791716"/>
          </a:solidFill>
          <a:ln/>
        </p:spPr>
      </p:sp>
      <p:sp>
        <p:nvSpPr>
          <p:cNvPr id="11" name="Text 8"/>
          <p:cNvSpPr/>
          <p:nvPr/>
        </p:nvSpPr>
        <p:spPr>
          <a:xfrm>
            <a:off x="3977640" y="26060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90–100%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532120" y="2606040"/>
            <a:ext cx="5897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actionable feedback with code examples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977640" y="3227832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C0AC7E"/>
          </a:solidFill>
          <a:ln/>
        </p:spPr>
      </p:sp>
      <p:sp>
        <p:nvSpPr>
          <p:cNvPr id="14" name="Text 11"/>
          <p:cNvSpPr/>
          <p:nvPr/>
        </p:nvSpPr>
        <p:spPr>
          <a:xfrm>
            <a:off x="3977640" y="3227832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80–89%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532120" y="3227832"/>
            <a:ext cx="5897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major issues with useful suggestions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977640" y="3849624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C0AC7E"/>
          </a:solidFill>
          <a:ln/>
        </p:spPr>
      </p:sp>
      <p:sp>
        <p:nvSpPr>
          <p:cNvPr id="17" name="Text 14"/>
          <p:cNvSpPr/>
          <p:nvPr/>
        </p:nvSpPr>
        <p:spPr>
          <a:xfrm>
            <a:off x="3977640" y="3849624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70–79%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532120" y="3849624"/>
            <a:ext cx="5897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requirements with basic feedback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977640" y="4471416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C0AC7E"/>
          </a:solidFill>
          <a:ln/>
        </p:spPr>
      </p:sp>
      <p:sp>
        <p:nvSpPr>
          <p:cNvPr id="20" name="Text 17"/>
          <p:cNvSpPr/>
          <p:nvPr/>
        </p:nvSpPr>
        <p:spPr>
          <a:xfrm>
            <a:off x="3977640" y="4471416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60–69%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532120" y="4471416"/>
            <a:ext cx="5897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effort, vague feedback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3977640" y="509320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C0AC7E"/>
          </a:solidFill>
          <a:ln/>
        </p:spPr>
      </p:sp>
      <p:sp>
        <p:nvSpPr>
          <p:cNvPr id="23" name="Text 20"/>
          <p:cNvSpPr/>
          <p:nvPr/>
        </p:nvSpPr>
        <p:spPr>
          <a:xfrm>
            <a:off x="3977640" y="5093208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Below 60%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532120" y="5093208"/>
            <a:ext cx="5897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non-constructive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Policies Worth Knowing Cold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BF9F5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21742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6" name="Image 0" descr="icon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9578" y="24039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2004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Commitment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 hrs/week outside class — dev, docs, and project work combined.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8328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BF9F5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97680" y="221742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11" name="Image 1" descr="icon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218" y="240395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32004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Integrity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66160" y="384048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original or attributed. AI tool usage must be documented.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1792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BF9F5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32320" y="221742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16" name="Image 2" descr="icon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858" y="240395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32004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Work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00800" y="384048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cumulative hours free, then 20% penalty per 24 hrs. No credit past 5 days.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5256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BF9F5"/>
          </a:solidFill>
          <a:ln w="12700">
            <a:solidFill>
              <a:srgbClr val="C0AC7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966960" y="2217420"/>
            <a:ext cx="777240" cy="777240"/>
          </a:xfrm>
          <a:prstGeom prst="ellipse">
            <a:avLst/>
          </a:prstGeom>
          <a:solidFill>
            <a:srgbClr val="791716"/>
          </a:solidFill>
          <a:ln/>
        </p:spPr>
      </p:sp>
      <p:pic>
        <p:nvPicPr>
          <p:cNvPr id="21" name="Image 3" descr="icon_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498" y="24039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89720" y="32004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Incomplete Grades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235440" y="384048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for prolonged illness or family emergency — not falling behind.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Policies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8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917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Predicts Success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1097280"/>
          </a:xfrm>
          <a:prstGeom prst="roundRect">
            <a:avLst>
              <a:gd name="adj" fmla="val 8333"/>
            </a:avLst>
          </a:prstGeom>
          <a:solidFill>
            <a:srgbClr val="540F0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48840"/>
            <a:ext cx="548640" cy="548640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74520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early and iterate often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349240" cy="1097280"/>
          </a:xfrm>
          <a:prstGeom prst="roundRect">
            <a:avLst>
              <a:gd name="adj" fmla="val 8333"/>
            </a:avLst>
          </a:prstGeom>
          <a:solidFill>
            <a:srgbClr val="540F0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0" y="2148840"/>
            <a:ext cx="548640" cy="548640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0" y="1874520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code daily, even small changes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349240" cy="1097280"/>
          </a:xfrm>
          <a:prstGeom prst="roundRect">
            <a:avLst>
              <a:gd name="adj" fmla="val 8333"/>
            </a:avLst>
          </a:prstGeom>
          <a:solidFill>
            <a:srgbClr val="540F0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474720"/>
            <a:ext cx="548640" cy="548640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3200400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help when stuck more than 2 hours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3200400"/>
            <a:ext cx="5349240" cy="1097280"/>
          </a:xfrm>
          <a:prstGeom prst="roundRect">
            <a:avLst>
              <a:gd name="adj" fmla="val 8333"/>
            </a:avLst>
          </a:prstGeom>
          <a:solidFill>
            <a:srgbClr val="540F0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0" y="3474720"/>
            <a:ext cx="548640" cy="548640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32320" y="3200400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every weekly meeting prepared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349240" cy="1097280"/>
          </a:xfrm>
          <a:prstGeom prst="roundRect">
            <a:avLst>
              <a:gd name="adj" fmla="val 8333"/>
            </a:avLst>
          </a:prstGeom>
          <a:solidFill>
            <a:srgbClr val="540F0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4800600"/>
            <a:ext cx="548640" cy="548640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800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08760" y="4526280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meaningfully in peer reviews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4526280"/>
            <a:ext cx="5349240" cy="1097280"/>
          </a:xfrm>
          <a:prstGeom prst="roundRect">
            <a:avLst>
              <a:gd name="adj" fmla="val 8333"/>
            </a:avLst>
          </a:prstGeom>
          <a:solidFill>
            <a:srgbClr val="540F0F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0" y="4800600"/>
            <a:ext cx="548640" cy="548640"/>
          </a:xfrm>
          <a:prstGeom prst="ellipse">
            <a:avLst/>
          </a:prstGeom>
          <a:solidFill>
            <a:srgbClr val="C0AC7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800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917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32320" y="4526280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as you go, not at the end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Tips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917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540F0F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828800"/>
            <a:ext cx="4572000" cy="4572000"/>
          </a:xfrm>
          <a:prstGeom prst="ellipse">
            <a:avLst/>
          </a:prstGeom>
          <a:ln w="25400">
            <a:solidFill>
              <a:srgbClr val="C0AC7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A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Friday…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45820" y="1851660"/>
            <a:ext cx="777240" cy="77724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7" name="Image 0" descr="icon_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358" y="203819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189280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full syllabus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783080" y="225856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policies, grading, and the complete milestone schedule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" y="2903220"/>
            <a:ext cx="777240" cy="77724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1" name="Image 1" descr="icon_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58" y="308975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294436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 your first Sprint Review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783080" y="331012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 weekly 15-minute slot on Google Calendar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45820" y="3954780"/>
            <a:ext cx="777240" cy="77724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5" name="Image 2" descr="icon_cp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358" y="414131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83080" y="399592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your dev environment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783080" y="436168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2.0+, and Docker 20.0+ recommended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45820" y="5006340"/>
            <a:ext cx="777240" cy="777240"/>
          </a:xfrm>
          <a:prstGeom prst="ellipse">
            <a:avLst/>
          </a:prstGeom>
          <a:solidFill>
            <a:srgbClr val="C0AC7E"/>
          </a:solidFill>
          <a:ln/>
        </p:spPr>
      </p:sp>
      <p:pic>
        <p:nvPicPr>
          <p:cNvPr id="19" name="Image 3" descr="icon_edi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58" y="5192878"/>
            <a:ext cx="404165" cy="40416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783080" y="504748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three project ideas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783080" y="5413248"/>
            <a:ext cx="8961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each — due Week 1, the spark for everything ahead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Something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8074152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4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480W/481 · Senior Capstone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2026-08-25T21:05:52Z</dcterms:created>
  <dcterms:modified xsi:type="dcterms:W3CDTF">2026-08-25T21:05:52Z</dcterms:modified>
</cp:coreProperties>
</file>