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72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7917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Proposal</c:v>
                </c:pt>
                <c:pt idx="1">
                  <c:v>Design Docs</c:v>
                </c:pt>
                <c:pt idx="2">
                  <c:v>Weekly Prog.</c:v>
                </c:pt>
                <c:pt idx="3">
                  <c:v>Mid-Sem.</c:v>
                </c:pt>
                <c:pt idx="4">
                  <c:v>Prototype</c:v>
                </c:pt>
                <c:pt idx="5">
                  <c:v>Final Pres.</c:v>
                </c:pt>
                <c:pt idx="6">
                  <c:v>Peer Rev.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20</c:v>
                </c:pt>
                <c:pt idx="3">
                  <c:v>10</c:v>
                </c:pt>
                <c:pt idx="4">
                  <c:v>25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66-2341-B738-938B005781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C0AC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Features</c:v>
                </c:pt>
                <c:pt idx="1">
                  <c:v>Testing</c:v>
                </c:pt>
                <c:pt idx="2">
                  <c:v>Deploy</c:v>
                </c:pt>
                <c:pt idx="3">
                  <c:v>Docs</c:v>
                </c:pt>
                <c:pt idx="4">
                  <c:v>Weekly Prog.</c:v>
                </c:pt>
                <c:pt idx="5">
                  <c:v>Final Pres.</c:v>
                </c:pt>
                <c:pt idx="6">
                  <c:v>Peer Rev.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8-114D-AE68-0711A2C928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791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31920"/>
            <a:ext cx="5943600" cy="5943600"/>
          </a:xfrm>
          <a:prstGeom prst="ellipse">
            <a:avLst/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-2194560"/>
            <a:ext cx="4114800" cy="4114800"/>
          </a:xfrm>
          <a:prstGeom prst="ellipse">
            <a:avLst/>
          </a:prstGeom>
          <a:ln w="28575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-1554480"/>
            <a:ext cx="2834640" cy="2834640"/>
          </a:xfrm>
          <a:prstGeom prst="ellipse">
            <a:avLst/>
          </a:prstGeom>
          <a:ln w="15875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SESSION · FALL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778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Capstone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 / CS 481  —  From Concept to Deployment in Two Semesters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Fred Agbo, PhD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of Computer Science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Hall 209 · fjagbo@willamette.edu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Willamette University · Department of Computer Science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</a:t>
            </a:r>
            <a:endParaRPr lang="en-US" sz="32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Capstone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culmination of everything you've learned — where you design, build, and ship something real.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828800" y="5212080"/>
            <a:ext cx="914400" cy="914400"/>
          </a:xfrm>
          <a:prstGeom prst="ellipse">
            <a:avLst/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543153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713232"/>
            <a:ext cx="384048" cy="384048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713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57800" y="658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full semesters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257800" y="101498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 (CS 480W) through Spring 2027 (CS 481) — 8 credits, one continuous project.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09160" y="2039112"/>
            <a:ext cx="384048" cy="384048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57800" y="1984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project, start to finish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57800" y="234086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it, scope it, architect it, build it, test it, and deploy it.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709160" y="3364992"/>
            <a:ext cx="384048" cy="384048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0916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257800" y="33101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Industry-standard practice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257800" y="366674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SDLC methodology: agile sprints, code review, CI/CD, and documentation — the way professional teams work.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709160" y="4690872"/>
            <a:ext cx="384048" cy="384048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09160" y="4690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57800" y="46360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portfolio piece that speaks for you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257800" y="499262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can demo in an interview, not just describe on a resume.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Your Instructor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377440" cy="2377440"/>
          </a:xfrm>
          <a:prstGeom prst="ellipse">
            <a:avLst/>
          </a:prstGeom>
          <a:solidFill>
            <a:srgbClr val="E4D9BE"/>
          </a:solidFill>
          <a:ln w="381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6888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 Fred Agbo, PhD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0" y="23957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of Computer Science</a:t>
            </a:r>
            <a:endParaRPr lang="en-US" sz="1400" dirty="0"/>
          </a:p>
        </p:txBody>
      </p:sp>
      <p:pic>
        <p:nvPicPr>
          <p:cNvPr id="8" name="Image 1" descr="icon_mappin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06324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30175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Hall 209 · Salem</a:t>
            </a:r>
            <a:endParaRPr lang="en-US" sz="1300" dirty="0"/>
          </a:p>
        </p:txBody>
      </p:sp>
      <p:pic>
        <p:nvPicPr>
          <p:cNvPr id="10" name="Image 2" descr="icon_mai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56616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14800" y="3520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fjagbo@willamette.edu</a:t>
            </a:r>
            <a:endParaRPr lang="en-US" sz="1300" dirty="0"/>
          </a:p>
        </p:txBody>
      </p:sp>
      <p:pic>
        <p:nvPicPr>
          <p:cNvPr id="12" name="Image 3" descr="icon_calendar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06908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14800" y="40233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15-min appointments or drop-in — in person, phone, or Google Meet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48640" y="4892040"/>
            <a:ext cx="11064240" cy="1234440"/>
          </a:xfrm>
          <a:prstGeom prst="rect">
            <a:avLst/>
          </a:prstGeom>
          <a:solidFill>
            <a:srgbClr val="E4D9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me as your Product Owner.</a:t>
            </a: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868680" y="53949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set direction, review your sprints weekly, and push your project toward something you're proud to ship — but the roadmap, the decisions, and the code are yours.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End, You Will Have…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56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99" y="23801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application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concept through deployment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34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42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23801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dev practices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71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proficiency across the SDLC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120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28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_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199" y="23801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documentation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57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docs that outlast the course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406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14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_message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199" y="238018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skill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43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technical and general audiences alike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692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300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_a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9199" y="2380183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portfolio piece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829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what you can actually build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Goals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Ahead — Two Semesters, One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· CS 480W · FALL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Initiation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76879" y="2331720"/>
            <a:ext cx="0" cy="1234440"/>
          </a:xfrm>
          <a:prstGeom prst="line">
            <a:avLst/>
          </a:prstGeom>
          <a:noFill/>
          <a:ln w="12700">
            <a:solidFill>
              <a:srgbClr val="C0AC7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82919" y="2331720"/>
            <a:ext cx="0" cy="1234440"/>
          </a:xfrm>
          <a:prstGeom prst="line">
            <a:avLst/>
          </a:prstGeom>
          <a:noFill/>
          <a:ln w="12700">
            <a:solidFill>
              <a:srgbClr val="C0AC7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588959" y="2331720"/>
            <a:ext cx="0" cy="1234440"/>
          </a:xfrm>
          <a:prstGeom prst="line">
            <a:avLst/>
          </a:prstGeom>
          <a:noFill/>
          <a:ln w="12700">
            <a:solidFill>
              <a:srgbClr val="C0AC7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4108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4108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Demo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 · CS 481 · SPRING 2027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983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376879" y="4663440"/>
            <a:ext cx="0" cy="1234440"/>
          </a:xfrm>
          <a:prstGeom prst="line">
            <a:avLst/>
          </a:prstGeom>
          <a:noFill/>
          <a:ln w="12700">
            <a:solidFill>
              <a:srgbClr val="7917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4983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Assurance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982919" y="4663440"/>
            <a:ext cx="0" cy="1234440"/>
          </a:xfrm>
          <a:prstGeom prst="line">
            <a:avLst/>
          </a:prstGeom>
          <a:noFill/>
          <a:ln w="12700">
            <a:solidFill>
              <a:srgbClr val="7917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4983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588959" y="4663440"/>
            <a:ext cx="0" cy="1234440"/>
          </a:xfrm>
          <a:prstGeom prst="line">
            <a:avLst/>
          </a:prstGeom>
          <a:noFill/>
          <a:ln w="12700">
            <a:solidFill>
              <a:srgbClr val="7917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4108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14–15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41080" y="4983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roadmap and weekly deliverables are in the syllabus — this is your flight path for the year.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Weekly Rhythm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runs on the same cycle — consistency is what makes agile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E4D9BE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02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74" y="25411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week's backlog</a:t>
            </a:r>
            <a:endParaRPr lang="en-US" sz="1400" dirty="0"/>
          </a:p>
        </p:txBody>
      </p:sp>
      <p:pic>
        <p:nvPicPr>
          <p:cNvPr id="11" name="Image 1" descr="icon_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16" y="365760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34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488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974" y="254111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6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TUE–THU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944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Work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944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commits, real progress</a:t>
            </a:r>
            <a:endParaRPr lang="en-US" sz="1400" dirty="0"/>
          </a:p>
        </p:txBody>
      </p:sp>
      <p:pic>
        <p:nvPicPr>
          <p:cNvPr id="18" name="Image 3" descr="icon_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65760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20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E4D9BE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5774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_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0974" y="2541118"/>
            <a:ext cx="404165" cy="4041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230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Testing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230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+ group session</a:t>
            </a:r>
            <a:endParaRPr lang="en-US" sz="1400" dirty="0"/>
          </a:p>
        </p:txBody>
      </p:sp>
      <p:pic>
        <p:nvPicPr>
          <p:cNvPr id="25" name="Image 5" descr="icon_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3657600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406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8060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icon_ed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6974" y="2541118"/>
            <a:ext cx="404165" cy="40416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98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7516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&amp; Reflection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516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 while it's fresh</a:t>
            </a:r>
            <a:endParaRPr lang="en-US" sz="1400" dirty="0"/>
          </a:p>
        </p:txBody>
      </p:sp>
      <p:pic>
        <p:nvPicPr>
          <p:cNvPr id="32" name="Image 7" descr="icon_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3657600"/>
            <a:ext cx="182880" cy="18288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692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E4D9BE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10346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8" descr="icon_message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2974" y="2541118"/>
            <a:ext cx="404165" cy="40416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84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MTG.</a:t>
            </a:r>
            <a:endParaRPr lang="en-US" sz="1050" dirty="0"/>
          </a:p>
        </p:txBody>
      </p:sp>
      <p:sp>
        <p:nvSpPr>
          <p:cNvPr id="37" name="Text 26"/>
          <p:cNvSpPr/>
          <p:nvPr/>
        </p:nvSpPr>
        <p:spPr>
          <a:xfrm>
            <a:off x="9802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9802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your instructor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Meetings, Every Single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0AC7E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914400" cy="91440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276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Review Session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514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Friday · 10:30–11:00 AM · Ford Hall 209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expected from everyone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the week's milestones together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Peer collaboration &amp; shared problem-solving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791716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75120" y="2057400"/>
            <a:ext cx="914400" cy="91440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_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227685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Sprint Review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7724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minutes, weekly · You book it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3796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reserve your own slot each week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3796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 your progress 1-on-1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3796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Personalized feedback on blockers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537960" y="47091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675120" y="47091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Book Your Sprint Review — link on course site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Expectations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Run Sprints: Agile Ceremonies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40180" y="2194560"/>
            <a:ext cx="822960" cy="82296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90" y="23920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10 min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velocity, select backlog items, commit to goals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74820" y="2194560"/>
            <a:ext cx="822960" cy="82296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message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330" y="23920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Standup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52044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by 10 AM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4160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 Discord/Slack: yesterday, today, blockers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09460" y="2194560"/>
            <a:ext cx="822960" cy="82296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_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970" y="239207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35508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15 min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4160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features, gather feedback, discuss what's left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5256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944100" y="2194560"/>
            <a:ext cx="822960" cy="82296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_rotatec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610" y="239207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Retrospective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918972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· 5 min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35440" y="4160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well, what to improve, action items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Ceremonies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Non-Negotiables: Development Practices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7260" y="208026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743" y="22887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Daily commits — minimum, including doc days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Conventional commits: feat:, fix:, docs: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0142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Feature-branch workflow with pull requests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581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 branch is protected — requires review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06540" y="208026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023" y="2288743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24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CI/CD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3796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00684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min (Sem. 2)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3796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006840" y="3337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API endpoints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00684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user paths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3796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006840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100ms query response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37960" y="4846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required — GitHub Actions, Jenkins, or CircleCI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Standards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You're Graded, Semester by Semester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1 · CS 480W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87452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2 · CS 481</a:t>
            </a:r>
            <a:endParaRPr lang="en-US" sz="15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26480" y="187452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Breakdown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D9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Also a Reviewer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review one classmates' projects across both semesters — same partners throughout, real critical-evaluation practice.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34440" y="2423160"/>
            <a:ext cx="1188720" cy="118872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733" y="2708453"/>
            <a:ext cx="618134" cy="618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94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once,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all year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57600" y="1920240"/>
            <a:ext cx="79552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7764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Rubric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977640" y="26060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977640" y="2606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90–100%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32120" y="2606040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actionable feedback with code examples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77640" y="322783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977640" y="32278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80–89%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32120" y="3227832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major issues with useful suggestions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977640" y="3849624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977640" y="38496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70–79%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32120" y="3849624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requirements with basic feedback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977640" y="4471416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77640" y="447141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60–69%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532120" y="4471416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effort, vague feedback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77640" y="50932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977640" y="50932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Below 60%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532120" y="5093208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non-constructive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Worth Knowing Cold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221742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578" y="24039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Commitment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hrs/week outside class — dev, docs, and project work combined.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97680" y="221742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218" y="24039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Integrity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38404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original or attributed. AI tool usage must be documented.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32320" y="221742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858" y="24039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Work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38404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cumulative hours free, then 20% penalty per 24 hrs. No credit past 5 days.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966960" y="221742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498" y="240395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Grades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35440" y="38404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prolonged illness or family emergency — not falling behind.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Policies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Predicts Success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early and iterate often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8745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code daily, even small changes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help when stuck more than 2 hours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347472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2004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every weekly meeting prepared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5262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meaningfully in peer reviews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5262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480060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5262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as you go, not at the end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Tips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ln w="254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Friday…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45820" y="1851660"/>
            <a:ext cx="777240" cy="7772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20381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8928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full syllabus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2585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policies, grading, and the complete milestone schedule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" y="2903220"/>
            <a:ext cx="777240" cy="7772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8" y="30897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9443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your first Sprint Review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31012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weekly 15-minute slot on Google Calendar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5820" y="3954780"/>
            <a:ext cx="777240" cy="7772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8" y="414131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99592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your dev environment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43616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2.0+, and Docker 20.0+ recommended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45820" y="5006340"/>
            <a:ext cx="777240" cy="7772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icon_e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358" y="5192878"/>
            <a:ext cx="404165" cy="4041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83080" y="50474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three project ideas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783080" y="541324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each — due Week 1, the spark for everything ahead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1107</Words>
  <Application>Microsoft Macintosh PowerPoint</Application>
  <PresentationFormat>Widescreen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Fred Agbo</cp:lastModifiedBy>
  <cp:revision>2</cp:revision>
  <dcterms:created xsi:type="dcterms:W3CDTF">2026-08-25T21:05:52Z</dcterms:created>
  <dcterms:modified xsi:type="dcterms:W3CDTF">2026-08-28T20:35:35Z</dcterms:modified>
</cp:coreProperties>
</file>